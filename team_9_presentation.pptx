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Lst>
  <p:notesMasterIdLst>
    <p:notesMasterId r:id="rId14"/>
  </p:notesMasterIdLst>
  <p:sldIdLst>
    <p:sldId id="256" r:id="rId5"/>
    <p:sldId id="263" r:id="rId6"/>
    <p:sldId id="312" r:id="rId7"/>
    <p:sldId id="303" r:id="rId8"/>
    <p:sldId id="313" r:id="rId9"/>
    <p:sldId id="307" r:id="rId10"/>
    <p:sldId id="314" r:id="rId11"/>
    <p:sldId id="316" r:id="rId12"/>
    <p:sldId id="31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D34C"/>
    <a:srgbClr val="F2EDA8"/>
    <a:srgbClr val="EBAB00"/>
    <a:srgbClr val="FAE100"/>
    <a:srgbClr val="FFFFAA"/>
    <a:srgbClr val="FFFFFF"/>
    <a:srgbClr val="E4B429"/>
    <a:srgbClr val="FFD54F"/>
    <a:srgbClr val="FFEA3D"/>
    <a:srgbClr val="E0249A"/>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88314F-2094-41E5-283F-C27B07CFD6DA}" v="60" dt="2025-11-25T23:52:25.324"/>
    <p1510:client id="{42C28F7C-5D05-F58A-C710-980CBE22163B}" v="58" dt="2025-11-26T07:04:33.972"/>
    <p1510:client id="{50E07E06-2981-49CB-BA26-AF9C993B4776}" v="134" dt="2025-11-26T16:01:40.273"/>
    <p1510:client id="{79F4C782-B0E7-4180-AF4F-47011175664F}" v="201" dt="2025-11-26T15:56:57.207"/>
    <p1510:client id="{9AC217FC-D0E2-427C-B5CD-01E62051D053}" v="418" dt="2025-11-26T16:01:43.3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E97C-1779-4CEE-80D0-5BBB1AC4023D}" type="datetimeFigureOut">
              <a:rPr lang="en-US" smtClean="0"/>
              <a:t>11/26/2025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CEF7D1-689C-4BC1-B59B-4A4CE078ECDF}" type="slidenum">
              <a:rPr lang="en-US" smtClean="0"/>
              <a:t>‹#›</a:t>
            </a:fld>
            <a:endParaRPr lang="en-US"/>
          </a:p>
        </p:txBody>
      </p:sp>
    </p:spTree>
    <p:extLst>
      <p:ext uri="{BB962C8B-B14F-4D97-AF65-F5344CB8AC3E}">
        <p14:creationId xmlns:p14="http://schemas.microsoft.com/office/powerpoint/2010/main" val="198114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2740" y="1028940"/>
            <a:ext cx="9719960" cy="1474115"/>
          </a:xfrm>
        </p:spPr>
        <p:txBody>
          <a:bodyPr lIns="0" anchor="b">
            <a:noAutofit/>
          </a:bodyPr>
          <a:lstStyle>
            <a:lvl1pPr algn="l">
              <a:defRPr sz="5400" b="1">
                <a:solidFill>
                  <a:schemeClr val="tx1"/>
                </a:solidFill>
                <a:latin typeface="+mj-lt"/>
              </a:defRPr>
            </a:lvl1pPr>
          </a:lstStyle>
          <a:p>
            <a:r>
              <a:rPr lang="en-US"/>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11/26/2025</a:t>
            </a:fld>
            <a:endParaRPr lang="en-US"/>
          </a:p>
        </p:txBody>
      </p:sp>
      <p:sp>
        <p:nvSpPr>
          <p:cNvPr id="8" name="Footer Placeholder 7"/>
          <p:cNvSpPr>
            <a:spLocks noGrp="1"/>
          </p:cNvSpPr>
          <p:nvPr>
            <p:ph type="ftr" sz="quarter" idx="11"/>
          </p:nvPr>
        </p:nvSpPr>
        <p:spPr>
          <a:xfrm>
            <a:off x="6623674" y="6377231"/>
            <a:ext cx="4293708" cy="250337"/>
          </a:xfrm>
        </p:spPr>
        <p:txBody>
          <a:bodyPr/>
          <a:lstStyle>
            <a:lvl1pPr algn="ctr">
              <a:defRPr/>
            </a:lvl1pPr>
          </a:lstStyle>
          <a:p>
            <a:r>
              <a:rPr lang="en-US"/>
              <a:t>PRESENTATION TITLE</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lvl1pPr>
          </a:lstStyle>
          <a:p>
            <a:fld id="{93005692-73BE-493E-93AB-ECD6027A7652}" type="slidenum">
              <a:rPr lang="en-US" smtClean="0"/>
              <a:pPr/>
              <a:t>‹#›</a:t>
            </a:fld>
            <a:endParaRPr lang="en-US"/>
          </a:p>
        </p:txBody>
      </p:sp>
      <p:grpSp>
        <p:nvGrpSpPr>
          <p:cNvPr id="4" name="Group 3">
            <a:extLst>
              <a:ext uri="{FF2B5EF4-FFF2-40B4-BE49-F238E27FC236}">
                <a16:creationId xmlns:a16="http://schemas.microsoft.com/office/drawing/2014/main" id="{FA9D516E-B50C-3538-5F83-7A7E26FA7180}"/>
              </a:ext>
            </a:extLst>
          </p:cNvPr>
          <p:cNvGrpSpPr/>
          <p:nvPr userDrawn="1"/>
        </p:nvGrpSpPr>
        <p:grpSpPr>
          <a:xfrm>
            <a:off x="0" y="0"/>
            <a:ext cx="12192000" cy="397164"/>
            <a:chOff x="421830" y="1342659"/>
            <a:chExt cx="10018760" cy="290558"/>
          </a:xfrm>
        </p:grpSpPr>
        <p:sp>
          <p:nvSpPr>
            <p:cNvPr id="5" name="Rectangle 4">
              <a:extLst>
                <a:ext uri="{FF2B5EF4-FFF2-40B4-BE49-F238E27FC236}">
                  <a16:creationId xmlns:a16="http://schemas.microsoft.com/office/drawing/2014/main" id="{564C80F1-3A23-371A-2470-E4F47051B067}"/>
                </a:ext>
              </a:extLst>
            </p:cNvPr>
            <p:cNvSpPr/>
            <p:nvPr userDrawn="1"/>
          </p:nvSpPr>
          <p:spPr>
            <a:xfrm>
              <a:off x="421831" y="1487938"/>
              <a:ext cx="2532791" cy="145279"/>
            </a:xfrm>
            <a:prstGeom prst="rect">
              <a:avLst/>
            </a:prstGeom>
            <a:solidFill>
              <a:srgbClr val="F2E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AE94728-AA91-523E-8496-C81B9B4F7DBA}"/>
                </a:ext>
              </a:extLst>
            </p:cNvPr>
            <p:cNvSpPr/>
            <p:nvPr userDrawn="1"/>
          </p:nvSpPr>
          <p:spPr>
            <a:xfrm>
              <a:off x="2928836" y="1487938"/>
              <a:ext cx="2503918" cy="145279"/>
            </a:xfrm>
            <a:prstGeom prst="rect">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191B2D9-C1ED-03D3-DEF3-A9A462104F1B}"/>
                </a:ext>
              </a:extLst>
            </p:cNvPr>
            <p:cNvSpPr/>
            <p:nvPr userDrawn="1"/>
          </p:nvSpPr>
          <p:spPr>
            <a:xfrm>
              <a:off x="5432754" y="1487938"/>
              <a:ext cx="2503918" cy="145279"/>
            </a:xfrm>
            <a:prstGeom prst="rect">
              <a:avLst/>
            </a:prstGeom>
            <a:solidFill>
              <a:srgbClr val="FE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06A16F2-9D54-FDAA-9A4A-51FD430B6DEC}"/>
                </a:ext>
              </a:extLst>
            </p:cNvPr>
            <p:cNvSpPr/>
            <p:nvPr userDrawn="1"/>
          </p:nvSpPr>
          <p:spPr>
            <a:xfrm>
              <a:off x="7936672" y="1487938"/>
              <a:ext cx="2503918" cy="145279"/>
            </a:xfrm>
            <a:prstGeom prst="rect">
              <a:avLst/>
            </a:prstGeom>
            <a:solidFill>
              <a:srgbClr val="EBA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0E2637A-331B-C5E3-4052-2A4B4D0889CD}"/>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Picture 16" descr="University of Waterloo logo">
            <a:extLst>
              <a:ext uri="{FF2B5EF4-FFF2-40B4-BE49-F238E27FC236}">
                <a16:creationId xmlns:a16="http://schemas.microsoft.com/office/drawing/2014/main" id="{F9381018-83A5-0DDE-AA4A-B9F8D17123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161" y="5304722"/>
            <a:ext cx="3759035" cy="1484224"/>
          </a:xfrm>
          <a:prstGeom prst="rect">
            <a:avLst/>
          </a:prstGeom>
        </p:spPr>
      </p:pic>
    </p:spTree>
    <p:extLst>
      <p:ext uri="{BB962C8B-B14F-4D97-AF65-F5344CB8AC3E}">
        <p14:creationId xmlns:p14="http://schemas.microsoft.com/office/powerpoint/2010/main" val="35155922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6094124" y="397164"/>
            <a:ext cx="6097876" cy="6460836"/>
          </a:xfrm>
        </p:spPr>
        <p:txBody>
          <a:bodyPr/>
          <a:lstStyle/>
          <a:p>
            <a:r>
              <a:rPr lang="en-US"/>
              <a:t>Click icon to add picture</a:t>
            </a:r>
          </a:p>
        </p:txBody>
      </p:sp>
      <p:sp>
        <p:nvSpPr>
          <p:cNvPr id="2" name="Title 1"/>
          <p:cNvSpPr>
            <a:spLocks noGrp="1"/>
          </p:cNvSpPr>
          <p:nvPr>
            <p:ph type="ctrTitle" hasCustomPrompt="1"/>
          </p:nvPr>
        </p:nvSpPr>
        <p:spPr>
          <a:xfrm>
            <a:off x="452740" y="1028940"/>
            <a:ext cx="5486243" cy="1474115"/>
          </a:xfrm>
        </p:spPr>
        <p:txBody>
          <a:bodyPr lIns="0" anchor="b">
            <a:noAutofit/>
          </a:bodyPr>
          <a:lstStyle>
            <a:lvl1pPr algn="l">
              <a:defRPr sz="5400" b="1">
                <a:solidFill>
                  <a:schemeClr val="tx1"/>
                </a:solidFill>
                <a:latin typeface="+mj-lt"/>
              </a:defRPr>
            </a:lvl1pPr>
          </a:lstStyle>
          <a:p>
            <a:r>
              <a:rPr lang="en-US"/>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11/26/2025</a:t>
            </a:fld>
            <a:endParaRPr lang="en-US"/>
          </a:p>
        </p:txBody>
      </p:sp>
      <p:sp>
        <p:nvSpPr>
          <p:cNvPr id="8" name="Footer Placeholder 7"/>
          <p:cNvSpPr>
            <a:spLocks noGrp="1"/>
          </p:cNvSpPr>
          <p:nvPr>
            <p:ph type="ftr" sz="quarter" idx="11"/>
          </p:nvPr>
        </p:nvSpPr>
        <p:spPr>
          <a:xfrm>
            <a:off x="6623674" y="6377231"/>
            <a:ext cx="4293708" cy="250337"/>
          </a:xfrm>
        </p:spPr>
        <p:txBody>
          <a:bodyPr/>
          <a:lstStyle>
            <a:lvl1pPr algn="ctr">
              <a:defRPr/>
            </a:lvl1pPr>
          </a:lstStyle>
          <a:p>
            <a:r>
              <a:rPr lang="en-US"/>
              <a:t>PRESENTATION TITLE</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lvl1pPr>
          </a:lstStyle>
          <a:p>
            <a:fld id="{93005692-73BE-493E-93AB-ECD6027A7652}" type="slidenum">
              <a:rPr lang="en-US" smtClean="0"/>
              <a:pPr/>
              <a:t>‹#›</a:t>
            </a:fld>
            <a:endParaRPr lang="en-US"/>
          </a:p>
        </p:txBody>
      </p:sp>
      <p:grpSp>
        <p:nvGrpSpPr>
          <p:cNvPr id="4" name="Group 3">
            <a:extLst>
              <a:ext uri="{FF2B5EF4-FFF2-40B4-BE49-F238E27FC236}">
                <a16:creationId xmlns:a16="http://schemas.microsoft.com/office/drawing/2014/main" id="{570F6756-3E11-A664-FDBC-686B312F4EDA}"/>
              </a:ext>
            </a:extLst>
          </p:cNvPr>
          <p:cNvGrpSpPr/>
          <p:nvPr userDrawn="1"/>
        </p:nvGrpSpPr>
        <p:grpSpPr>
          <a:xfrm>
            <a:off x="0" y="0"/>
            <a:ext cx="12192000" cy="397164"/>
            <a:chOff x="421830" y="1342659"/>
            <a:chExt cx="10018760" cy="290558"/>
          </a:xfrm>
        </p:grpSpPr>
        <p:sp>
          <p:nvSpPr>
            <p:cNvPr id="5" name="Rectangle 4">
              <a:extLst>
                <a:ext uri="{FF2B5EF4-FFF2-40B4-BE49-F238E27FC236}">
                  <a16:creationId xmlns:a16="http://schemas.microsoft.com/office/drawing/2014/main" id="{561E4A79-7EF1-881C-448C-B5893289EE72}"/>
                </a:ext>
              </a:extLst>
            </p:cNvPr>
            <p:cNvSpPr/>
            <p:nvPr userDrawn="1"/>
          </p:nvSpPr>
          <p:spPr>
            <a:xfrm>
              <a:off x="421831" y="1487938"/>
              <a:ext cx="2532791" cy="145279"/>
            </a:xfrm>
            <a:prstGeom prst="rect">
              <a:avLst/>
            </a:prstGeom>
            <a:solidFill>
              <a:srgbClr val="F2E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2F2ED37-6474-16ED-2345-5EC13A087CB3}"/>
                </a:ext>
              </a:extLst>
            </p:cNvPr>
            <p:cNvSpPr/>
            <p:nvPr userDrawn="1"/>
          </p:nvSpPr>
          <p:spPr>
            <a:xfrm>
              <a:off x="2928836" y="1487938"/>
              <a:ext cx="2503918" cy="145279"/>
            </a:xfrm>
            <a:prstGeom prst="rect">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0628BAF-CB56-3888-5C04-D94C5B43C05A}"/>
                </a:ext>
              </a:extLst>
            </p:cNvPr>
            <p:cNvSpPr/>
            <p:nvPr userDrawn="1"/>
          </p:nvSpPr>
          <p:spPr>
            <a:xfrm>
              <a:off x="5432754" y="1487938"/>
              <a:ext cx="2503918" cy="145279"/>
            </a:xfrm>
            <a:prstGeom prst="rect">
              <a:avLst/>
            </a:prstGeom>
            <a:solidFill>
              <a:srgbClr val="FE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2D47A3D-6975-669C-340E-F2326F6ABABA}"/>
                </a:ext>
              </a:extLst>
            </p:cNvPr>
            <p:cNvSpPr/>
            <p:nvPr userDrawn="1"/>
          </p:nvSpPr>
          <p:spPr>
            <a:xfrm>
              <a:off x="7936672" y="1487938"/>
              <a:ext cx="2503918" cy="145279"/>
            </a:xfrm>
            <a:prstGeom prst="rect">
              <a:avLst/>
            </a:prstGeom>
            <a:solidFill>
              <a:srgbClr val="EBA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296993A-5AA1-1101-663C-8CCD805BD6CC}"/>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4" name="Picture 13" descr="University of Waterloo logo">
            <a:extLst>
              <a:ext uri="{FF2B5EF4-FFF2-40B4-BE49-F238E27FC236}">
                <a16:creationId xmlns:a16="http://schemas.microsoft.com/office/drawing/2014/main" id="{023930CF-35B1-50C3-2CC3-42CBB13E41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161" y="5304722"/>
            <a:ext cx="3759035" cy="1484224"/>
          </a:xfrm>
          <a:prstGeom prst="rect">
            <a:avLst/>
          </a:prstGeom>
        </p:spPr>
      </p:pic>
    </p:spTree>
    <p:extLst>
      <p:ext uri="{BB962C8B-B14F-4D97-AF65-F5344CB8AC3E}">
        <p14:creationId xmlns:p14="http://schemas.microsoft.com/office/powerpoint/2010/main" val="10318354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2740" y="1028940"/>
            <a:ext cx="9516760" cy="1474115"/>
          </a:xfrm>
        </p:spPr>
        <p:txBody>
          <a:bodyPr lIns="0" anchor="b">
            <a:noAutofit/>
          </a:bodyPr>
          <a:lstStyle>
            <a:lvl1pPr algn="l">
              <a:defRPr sz="5400" b="1" cap="all" baseline="0">
                <a:solidFill>
                  <a:schemeClr val="bg1"/>
                </a:solidFill>
                <a:latin typeface="+mj-lt"/>
              </a:defRPr>
            </a:lvl1pPr>
          </a:lstStyle>
          <a:p>
            <a:r>
              <a:rPr lang="en-US"/>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baseline="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11/26/2025</a:t>
            </a:fld>
            <a:endParaRPr lang="en-US"/>
          </a:p>
        </p:txBody>
      </p:sp>
      <p:sp>
        <p:nvSpPr>
          <p:cNvPr id="8" name="Footer Placeholder 7"/>
          <p:cNvSpPr>
            <a:spLocks noGrp="1"/>
          </p:cNvSpPr>
          <p:nvPr>
            <p:ph type="ftr" sz="quarter" idx="11"/>
          </p:nvPr>
        </p:nvSpPr>
        <p:spPr>
          <a:xfrm>
            <a:off x="6623674" y="6377231"/>
            <a:ext cx="4293708" cy="250337"/>
          </a:xfrm>
        </p:spPr>
        <p:txBody>
          <a:bodyPr/>
          <a:lstStyle>
            <a:lvl1pPr algn="ctr">
              <a:defRPr>
                <a:solidFill>
                  <a:schemeClr val="bg1">
                    <a:lumMod val="85000"/>
                  </a:schemeClr>
                </a:solidFill>
              </a:defRPr>
            </a:lvl1pPr>
          </a:lstStyle>
          <a:p>
            <a:r>
              <a:rPr lang="en-US"/>
              <a:t>PRESENTATION TITLE</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solidFill>
                  <a:schemeClr val="bg1">
                    <a:lumMod val="85000"/>
                  </a:schemeClr>
                </a:solidFill>
              </a:defRPr>
            </a:lvl1pPr>
          </a:lstStyle>
          <a:p>
            <a:fld id="{93005692-73BE-493E-93AB-ECD6027A7652}" type="slidenum">
              <a:rPr lang="en-US" smtClean="0"/>
              <a:pPr/>
              <a:t>‹#›</a:t>
            </a:fld>
            <a:endParaRPr lang="en-US"/>
          </a:p>
        </p:txBody>
      </p:sp>
      <p:grpSp>
        <p:nvGrpSpPr>
          <p:cNvPr id="6" name="Group 5">
            <a:extLst>
              <a:ext uri="{FF2B5EF4-FFF2-40B4-BE49-F238E27FC236}">
                <a16:creationId xmlns:a16="http://schemas.microsoft.com/office/drawing/2014/main" id="{667CFFB5-59B4-4102-814E-9285FB5173B4}"/>
              </a:ext>
            </a:extLst>
          </p:cNvPr>
          <p:cNvGrpSpPr/>
          <p:nvPr userDrawn="1"/>
        </p:nvGrpSpPr>
        <p:grpSpPr>
          <a:xfrm>
            <a:off x="0" y="0"/>
            <a:ext cx="12192000" cy="397164"/>
            <a:chOff x="421830" y="1342659"/>
            <a:chExt cx="10018760" cy="290558"/>
          </a:xfrm>
        </p:grpSpPr>
        <p:sp>
          <p:nvSpPr>
            <p:cNvPr id="10" name="Rectangle 9">
              <a:extLst>
                <a:ext uri="{FF2B5EF4-FFF2-40B4-BE49-F238E27FC236}">
                  <a16:creationId xmlns:a16="http://schemas.microsoft.com/office/drawing/2014/main" id="{15932F0D-9F96-7DB3-EBDF-2EEF5271C0CC}"/>
                </a:ext>
              </a:extLst>
            </p:cNvPr>
            <p:cNvSpPr/>
            <p:nvPr userDrawn="1"/>
          </p:nvSpPr>
          <p:spPr>
            <a:xfrm>
              <a:off x="421831" y="1487938"/>
              <a:ext cx="2532791" cy="145279"/>
            </a:xfrm>
            <a:prstGeom prst="rect">
              <a:avLst/>
            </a:prstGeom>
            <a:solidFill>
              <a:srgbClr val="F2E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56A6273-7642-42A5-E18F-1DE50316C943}"/>
                </a:ext>
              </a:extLst>
            </p:cNvPr>
            <p:cNvSpPr/>
            <p:nvPr userDrawn="1"/>
          </p:nvSpPr>
          <p:spPr>
            <a:xfrm>
              <a:off x="2928836" y="1487938"/>
              <a:ext cx="2503918" cy="145279"/>
            </a:xfrm>
            <a:prstGeom prst="rect">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044829-A5BB-8024-3D09-E1C9E32BCA68}"/>
                </a:ext>
              </a:extLst>
            </p:cNvPr>
            <p:cNvSpPr/>
            <p:nvPr userDrawn="1"/>
          </p:nvSpPr>
          <p:spPr>
            <a:xfrm>
              <a:off x="5432754" y="1487938"/>
              <a:ext cx="2503918" cy="145279"/>
            </a:xfrm>
            <a:prstGeom prst="rect">
              <a:avLst/>
            </a:prstGeom>
            <a:solidFill>
              <a:srgbClr val="FE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B95626F-B1B6-6C41-86AA-CC9E13CCC1F5}"/>
                </a:ext>
              </a:extLst>
            </p:cNvPr>
            <p:cNvSpPr/>
            <p:nvPr userDrawn="1"/>
          </p:nvSpPr>
          <p:spPr>
            <a:xfrm>
              <a:off x="7936672" y="1487938"/>
              <a:ext cx="2503918" cy="145279"/>
            </a:xfrm>
            <a:prstGeom prst="rect">
              <a:avLst/>
            </a:prstGeom>
            <a:solidFill>
              <a:srgbClr val="EBA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3422BFA-868C-6396-0C14-E3B59F179385}"/>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1" name="Picture 20" descr="University of Waterloo logo">
            <a:extLst>
              <a:ext uri="{FF2B5EF4-FFF2-40B4-BE49-F238E27FC236}">
                <a16:creationId xmlns:a16="http://schemas.microsoft.com/office/drawing/2014/main" id="{BBF0D8A2-F1EC-E7D7-E699-09A5BA5F004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157" y="5304723"/>
            <a:ext cx="3759035" cy="1484222"/>
          </a:xfrm>
          <a:prstGeom prst="rect">
            <a:avLst/>
          </a:prstGeom>
        </p:spPr>
      </p:pic>
    </p:spTree>
    <p:extLst>
      <p:ext uri="{BB962C8B-B14F-4D97-AF65-F5344CB8AC3E}">
        <p14:creationId xmlns:p14="http://schemas.microsoft.com/office/powerpoint/2010/main" val="25289522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6094124" y="397164"/>
            <a:ext cx="6097876" cy="6460836"/>
          </a:xfrm>
        </p:spPr>
        <p:txBody>
          <a:bodyPr/>
          <a:lstStyle/>
          <a:p>
            <a:r>
              <a:rPr lang="en-US"/>
              <a:t>Click icon to add picture</a:t>
            </a:r>
          </a:p>
        </p:txBody>
      </p:sp>
      <p:sp>
        <p:nvSpPr>
          <p:cNvPr id="2" name="Title 1"/>
          <p:cNvSpPr>
            <a:spLocks noGrp="1"/>
          </p:cNvSpPr>
          <p:nvPr>
            <p:ph type="ctrTitle" hasCustomPrompt="1"/>
          </p:nvPr>
        </p:nvSpPr>
        <p:spPr>
          <a:xfrm>
            <a:off x="452740" y="1028940"/>
            <a:ext cx="5486243" cy="1474115"/>
          </a:xfrm>
        </p:spPr>
        <p:txBody>
          <a:bodyPr lIns="0" anchor="b">
            <a:noAutofit/>
          </a:bodyPr>
          <a:lstStyle>
            <a:lvl1pPr algn="l">
              <a:defRPr sz="5400" b="1" cap="all" baseline="0">
                <a:solidFill>
                  <a:schemeClr val="bg1"/>
                </a:solidFill>
                <a:latin typeface="+mj-lt"/>
              </a:defRPr>
            </a:lvl1pPr>
          </a:lstStyle>
          <a:p>
            <a:r>
              <a:rPr lang="en-US"/>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baseline="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11/26/2025</a:t>
            </a:fld>
            <a:endParaRPr lang="en-US"/>
          </a:p>
        </p:txBody>
      </p:sp>
      <p:sp>
        <p:nvSpPr>
          <p:cNvPr id="8" name="Footer Placeholder 7"/>
          <p:cNvSpPr>
            <a:spLocks noGrp="1"/>
          </p:cNvSpPr>
          <p:nvPr>
            <p:ph type="ftr" sz="quarter" idx="11"/>
          </p:nvPr>
        </p:nvSpPr>
        <p:spPr>
          <a:xfrm>
            <a:off x="6623674" y="6377231"/>
            <a:ext cx="4293708" cy="250337"/>
          </a:xfrm>
        </p:spPr>
        <p:txBody>
          <a:bodyPr/>
          <a:lstStyle>
            <a:lvl1pPr algn="ctr">
              <a:defRPr>
                <a:solidFill>
                  <a:schemeClr val="bg1">
                    <a:lumMod val="85000"/>
                  </a:schemeClr>
                </a:solidFill>
              </a:defRPr>
            </a:lvl1pPr>
          </a:lstStyle>
          <a:p>
            <a:r>
              <a:rPr lang="en-US"/>
              <a:t>PRESENTATION TITLE</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solidFill>
                  <a:schemeClr val="bg1">
                    <a:lumMod val="85000"/>
                  </a:schemeClr>
                </a:solidFill>
              </a:defRPr>
            </a:lvl1pPr>
          </a:lstStyle>
          <a:p>
            <a:fld id="{93005692-73BE-493E-93AB-ECD6027A7652}" type="slidenum">
              <a:rPr lang="en-US" smtClean="0"/>
              <a:pPr/>
              <a:t>‹#›</a:t>
            </a:fld>
            <a:endParaRPr lang="en-US"/>
          </a:p>
        </p:txBody>
      </p:sp>
      <p:grpSp>
        <p:nvGrpSpPr>
          <p:cNvPr id="4" name="Group 3">
            <a:extLst>
              <a:ext uri="{FF2B5EF4-FFF2-40B4-BE49-F238E27FC236}">
                <a16:creationId xmlns:a16="http://schemas.microsoft.com/office/drawing/2014/main" id="{02EC3763-2453-841B-0F5D-79F0D6E1A604}"/>
              </a:ext>
            </a:extLst>
          </p:cNvPr>
          <p:cNvGrpSpPr/>
          <p:nvPr userDrawn="1"/>
        </p:nvGrpSpPr>
        <p:grpSpPr>
          <a:xfrm>
            <a:off x="0" y="0"/>
            <a:ext cx="12192000" cy="397164"/>
            <a:chOff x="421830" y="1342659"/>
            <a:chExt cx="10018760" cy="290558"/>
          </a:xfrm>
        </p:grpSpPr>
        <p:sp>
          <p:nvSpPr>
            <p:cNvPr id="5" name="Rectangle 4">
              <a:extLst>
                <a:ext uri="{FF2B5EF4-FFF2-40B4-BE49-F238E27FC236}">
                  <a16:creationId xmlns:a16="http://schemas.microsoft.com/office/drawing/2014/main" id="{818602B7-0464-FA62-D3B1-AF340B30EEBD}"/>
                </a:ext>
              </a:extLst>
            </p:cNvPr>
            <p:cNvSpPr/>
            <p:nvPr userDrawn="1"/>
          </p:nvSpPr>
          <p:spPr>
            <a:xfrm>
              <a:off x="421831" y="1487938"/>
              <a:ext cx="2532791" cy="145279"/>
            </a:xfrm>
            <a:prstGeom prst="rect">
              <a:avLst/>
            </a:prstGeom>
            <a:solidFill>
              <a:srgbClr val="F2E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09FCB91-56EE-0306-B1C4-B6EE24D72222}"/>
                </a:ext>
              </a:extLst>
            </p:cNvPr>
            <p:cNvSpPr/>
            <p:nvPr userDrawn="1"/>
          </p:nvSpPr>
          <p:spPr>
            <a:xfrm>
              <a:off x="2928836" y="1487938"/>
              <a:ext cx="2503918" cy="145279"/>
            </a:xfrm>
            <a:prstGeom prst="rect">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AC9AC06-3237-7FB8-3E71-5F0CC0F88A28}"/>
                </a:ext>
              </a:extLst>
            </p:cNvPr>
            <p:cNvSpPr/>
            <p:nvPr userDrawn="1"/>
          </p:nvSpPr>
          <p:spPr>
            <a:xfrm>
              <a:off x="5432754" y="1487938"/>
              <a:ext cx="2503918" cy="145279"/>
            </a:xfrm>
            <a:prstGeom prst="rect">
              <a:avLst/>
            </a:prstGeom>
            <a:solidFill>
              <a:srgbClr val="FE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5069881-5C49-1510-1B4A-A66A82513010}"/>
                </a:ext>
              </a:extLst>
            </p:cNvPr>
            <p:cNvSpPr/>
            <p:nvPr userDrawn="1"/>
          </p:nvSpPr>
          <p:spPr>
            <a:xfrm>
              <a:off x="7936672" y="1487938"/>
              <a:ext cx="2503918" cy="145279"/>
            </a:xfrm>
            <a:prstGeom prst="rect">
              <a:avLst/>
            </a:prstGeom>
            <a:solidFill>
              <a:srgbClr val="EBA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AF94964-811F-E5B8-5769-F335900C6514}"/>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Picture 12" descr="University of Waterloo logo">
            <a:extLst>
              <a:ext uri="{FF2B5EF4-FFF2-40B4-BE49-F238E27FC236}">
                <a16:creationId xmlns:a16="http://schemas.microsoft.com/office/drawing/2014/main" id="{0F962198-0F7C-1A7B-DC29-ECAA32C67EB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157" y="5304723"/>
            <a:ext cx="3759035" cy="1484222"/>
          </a:xfrm>
          <a:prstGeom prst="rect">
            <a:avLst/>
          </a:prstGeom>
        </p:spPr>
      </p:pic>
    </p:spTree>
    <p:extLst>
      <p:ext uri="{BB962C8B-B14F-4D97-AF65-F5344CB8AC3E}">
        <p14:creationId xmlns:p14="http://schemas.microsoft.com/office/powerpoint/2010/main" val="3501067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D4B0C9-B47E-4B33-A656-C78D1805DA95}" type="datetime1">
              <a:rPr lang="en-US" smtClean="0"/>
              <a:t>11/26/2025</a:t>
            </a:fld>
            <a:endParaRPr lang="en-US"/>
          </a:p>
        </p:txBody>
      </p:sp>
      <p:sp>
        <p:nvSpPr>
          <p:cNvPr id="8" name="Footer Placeholder 7"/>
          <p:cNvSpPr>
            <a:spLocks noGrp="1"/>
          </p:cNvSpPr>
          <p:nvPr>
            <p:ph type="ftr" sz="quarter" idx="11"/>
          </p:nvPr>
        </p:nvSpPr>
        <p:spPr/>
        <p:txBody>
          <a:bodyPr/>
          <a:lstStyle/>
          <a:p>
            <a:r>
              <a:rPr lang="en-US"/>
              <a:t>PRESENTATION TITLE</a:t>
            </a:r>
          </a:p>
        </p:txBody>
      </p:sp>
      <p:sp>
        <p:nvSpPr>
          <p:cNvPr id="9" name="Slide Number Placeholder 8"/>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6663232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7407696" y="685060"/>
            <a:ext cx="1420859" cy="286052"/>
          </a:xfrm>
        </p:spPr>
        <p:txBody>
          <a:bodyPr anchor="ctr">
            <a:noAutofit/>
          </a:bodyPr>
          <a:lstStyle>
            <a:lvl1pPr marL="0" indent="0" algn="ctr">
              <a:buNone/>
              <a:defRPr sz="11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MENU ITEM 1</a:t>
            </a:r>
          </a:p>
        </p:txBody>
      </p:sp>
      <p:sp>
        <p:nvSpPr>
          <p:cNvPr id="9" name="Text Placeholder 7"/>
          <p:cNvSpPr>
            <a:spLocks noGrp="1"/>
          </p:cNvSpPr>
          <p:nvPr>
            <p:ph type="body" sz="quarter" idx="14" hasCustomPrompt="1"/>
          </p:nvPr>
        </p:nvSpPr>
        <p:spPr>
          <a:xfrm>
            <a:off x="8908224" y="685060"/>
            <a:ext cx="1420859" cy="286052"/>
          </a:xfrm>
        </p:spPr>
        <p:txBody>
          <a:bodyPr anchor="ctr">
            <a:noAutofit/>
          </a:bodyPr>
          <a:lstStyle>
            <a:lvl1pPr marL="0" indent="0" algn="ctr">
              <a:buNone/>
              <a:defRPr sz="11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MENU ITEM 2</a:t>
            </a:r>
          </a:p>
        </p:txBody>
      </p:sp>
      <p:sp>
        <p:nvSpPr>
          <p:cNvPr id="10" name="Text Placeholder 7"/>
          <p:cNvSpPr>
            <a:spLocks noGrp="1"/>
          </p:cNvSpPr>
          <p:nvPr>
            <p:ph type="body" sz="quarter" idx="15" hasCustomPrompt="1"/>
          </p:nvPr>
        </p:nvSpPr>
        <p:spPr>
          <a:xfrm>
            <a:off x="10408752" y="685060"/>
            <a:ext cx="1420859" cy="286052"/>
          </a:xfrm>
        </p:spPr>
        <p:txBody>
          <a:bodyPr anchor="ctr">
            <a:noAutofit/>
          </a:bodyPr>
          <a:lstStyle>
            <a:lvl1pPr marL="0" indent="0" algn="ctr">
              <a:buNone/>
              <a:defRPr sz="11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MENU ITEM 3</a:t>
            </a:r>
          </a:p>
        </p:txBody>
      </p:sp>
      <p:sp>
        <p:nvSpPr>
          <p:cNvPr id="7" name="Date Placeholder 6"/>
          <p:cNvSpPr>
            <a:spLocks noGrp="1"/>
          </p:cNvSpPr>
          <p:nvPr>
            <p:ph type="dt" sz="half" idx="16"/>
          </p:nvPr>
        </p:nvSpPr>
        <p:spPr/>
        <p:txBody>
          <a:bodyPr/>
          <a:lstStyle/>
          <a:p>
            <a:fld id="{48C228CE-C572-4AF5-9728-AA6E475873DD}" type="datetime1">
              <a:rPr lang="en-US" smtClean="0"/>
              <a:t>11/26/2025</a:t>
            </a:fld>
            <a:endParaRPr lang="en-US"/>
          </a:p>
        </p:txBody>
      </p:sp>
      <p:sp>
        <p:nvSpPr>
          <p:cNvPr id="11" name="Footer Placeholder 10"/>
          <p:cNvSpPr>
            <a:spLocks noGrp="1"/>
          </p:cNvSpPr>
          <p:nvPr>
            <p:ph type="ftr" sz="quarter" idx="17"/>
          </p:nvPr>
        </p:nvSpPr>
        <p:spPr/>
        <p:txBody>
          <a:bodyPr/>
          <a:lstStyle/>
          <a:p>
            <a:r>
              <a:rPr lang="en-US"/>
              <a:t>PRESENTATION TITLE</a:t>
            </a:r>
          </a:p>
        </p:txBody>
      </p:sp>
      <p:sp>
        <p:nvSpPr>
          <p:cNvPr id="12" name="Slide Number Placeholder 11"/>
          <p:cNvSpPr>
            <a:spLocks noGrp="1"/>
          </p:cNvSpPr>
          <p:nvPr>
            <p:ph type="sldNum" sz="quarter" idx="18"/>
          </p:nvPr>
        </p:nvSpPr>
        <p:spPr/>
        <p:txBody>
          <a:bodyPr/>
          <a:lstStyle/>
          <a:p>
            <a:r>
              <a:rPr lang="en-US"/>
              <a:t>PAGE  </a:t>
            </a:r>
            <a:fld id="{93005692-73BE-493E-93AB-ECD6027A7652}" type="slidenum">
              <a:rPr lang="en-US" smtClean="0"/>
              <a:pPr/>
              <a:t>‹#›</a:t>
            </a:fld>
            <a:endParaRPr lang="en-US"/>
          </a:p>
        </p:txBody>
      </p:sp>
      <p:sp>
        <p:nvSpPr>
          <p:cNvPr id="4" name="Title 3"/>
          <p:cNvSpPr>
            <a:spLocks noGrp="1"/>
          </p:cNvSpPr>
          <p:nvPr>
            <p:ph type="title"/>
          </p:nvPr>
        </p:nvSpPr>
        <p:spPr>
          <a:xfrm>
            <a:off x="259883" y="434108"/>
            <a:ext cx="7046081" cy="895927"/>
          </a:xfrm>
        </p:spPr>
        <p:txBody>
          <a:bodyPr/>
          <a:lstStyle>
            <a:lvl1pPr>
              <a:defRPr cap="all" baseline="0"/>
            </a:lvl1pPr>
          </a:lstStyle>
          <a:p>
            <a:r>
              <a:rPr lang="en-US"/>
              <a:t>Click to edit Master title style</a:t>
            </a:r>
          </a:p>
        </p:txBody>
      </p:sp>
    </p:spTree>
    <p:extLst>
      <p:ext uri="{BB962C8B-B14F-4D97-AF65-F5344CB8AC3E}">
        <p14:creationId xmlns:p14="http://schemas.microsoft.com/office/powerpoint/2010/main" val="12670362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9882" y="1709738"/>
            <a:ext cx="9399507" cy="2852737"/>
          </a:xfrm>
        </p:spPr>
        <p:txBody>
          <a:bodyPr anchor="b">
            <a:normAutofit/>
          </a:bodyPr>
          <a:lstStyle>
            <a:lvl1pPr algn="l">
              <a:defRPr sz="4000" cap="all" baseline="0">
                <a:solidFill>
                  <a:schemeClr val="tx1"/>
                </a:solidFill>
              </a:defRPr>
            </a:lvl1pPr>
          </a:lstStyle>
          <a:p>
            <a:r>
              <a:rPr lang="en-US"/>
              <a:t>CLICK TO EDIT MASTER</a:t>
            </a:r>
            <a:br>
              <a:rPr lang="en-US"/>
            </a:br>
            <a:r>
              <a:rPr lang="en-US"/>
              <a:t>SECTION TITLE SLIDE</a:t>
            </a:r>
          </a:p>
        </p:txBody>
      </p:sp>
      <p:sp>
        <p:nvSpPr>
          <p:cNvPr id="3" name="Text Placeholder 2"/>
          <p:cNvSpPr>
            <a:spLocks noGrp="1"/>
          </p:cNvSpPr>
          <p:nvPr>
            <p:ph type="body" idx="1"/>
          </p:nvPr>
        </p:nvSpPr>
        <p:spPr>
          <a:xfrm>
            <a:off x="259882" y="4589463"/>
            <a:ext cx="9399507" cy="1500187"/>
          </a:xfrm>
        </p:spPr>
        <p:txBody>
          <a:bodyPr>
            <a:normAutofit/>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026D43AC-4B94-471D-A170-0D88FCD1FB54}" type="datetime1">
              <a:rPr lang="en-US" smtClean="0"/>
              <a:t>11/26/2025</a:t>
            </a:fld>
            <a:endParaRPr lang="en-US"/>
          </a:p>
        </p:txBody>
      </p:sp>
      <p:sp>
        <p:nvSpPr>
          <p:cNvPr id="8" name="Footer Placeholder 7"/>
          <p:cNvSpPr>
            <a:spLocks noGrp="1"/>
          </p:cNvSpPr>
          <p:nvPr>
            <p:ph type="ftr" sz="quarter" idx="11"/>
          </p:nvPr>
        </p:nvSpPr>
        <p:spPr/>
        <p:txBody>
          <a:bodyPr/>
          <a:lstStyle/>
          <a:p>
            <a:r>
              <a:rPr lang="en-US"/>
              <a:t>PRESENTATION TITLE</a:t>
            </a:r>
          </a:p>
        </p:txBody>
      </p:sp>
      <p:sp>
        <p:nvSpPr>
          <p:cNvPr id="9" name="Slide Number Placeholder 8"/>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29690211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60521" y="3227413"/>
            <a:ext cx="8770620" cy="1212056"/>
          </a:xfrm>
        </p:spPr>
        <p:txBody>
          <a:bodyPr anchor="b">
            <a:noAutofit/>
          </a:bodyPr>
          <a:lstStyle>
            <a:lvl1pPr algn="l">
              <a:defRPr sz="4000" cap="all" baseline="0">
                <a:solidFill>
                  <a:schemeClr val="tx1"/>
                </a:solidFill>
                <a:latin typeface="+mj-lt"/>
              </a:defRPr>
            </a:lvl1pPr>
          </a:lstStyle>
          <a:p>
            <a:r>
              <a:rPr lang="en-US"/>
              <a:t>CLICK TO EDIT MASTER</a:t>
            </a:r>
            <a:br>
              <a:rPr lang="en-US"/>
            </a:br>
            <a:r>
              <a:rPr lang="en-US"/>
              <a:t>SECTION TITLE SLIDE OPTION 2</a:t>
            </a:r>
          </a:p>
        </p:txBody>
      </p:sp>
      <p:sp>
        <p:nvSpPr>
          <p:cNvPr id="3" name="Subtitle 2"/>
          <p:cNvSpPr>
            <a:spLocks noGrp="1"/>
          </p:cNvSpPr>
          <p:nvPr>
            <p:ph type="subTitle" idx="1"/>
          </p:nvPr>
        </p:nvSpPr>
        <p:spPr bwMode="gray">
          <a:xfrm>
            <a:off x="960521" y="4447299"/>
            <a:ext cx="8770620" cy="666549"/>
          </a:xfrm>
        </p:spPr>
        <p:txBody>
          <a:bodyPr anchor="t">
            <a:normAutofit/>
          </a:bodyPr>
          <a:lstStyle>
            <a:lvl1pPr marL="0" indent="0" algn="l">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10751004" y="6335309"/>
            <a:ext cx="1181114" cy="250337"/>
          </a:xfrm>
        </p:spPr>
        <p:txBody>
          <a:bodyPr/>
          <a:lstStyle/>
          <a:p>
            <a:fld id="{72EFF9E2-52BD-4C8D-9C57-79F661DB94A1}" type="datetime1">
              <a:rPr lang="en-US" smtClean="0"/>
              <a:t>11/26/2025</a:t>
            </a:fld>
            <a:endParaRPr lang="en-US"/>
          </a:p>
        </p:txBody>
      </p:sp>
      <p:sp>
        <p:nvSpPr>
          <p:cNvPr id="5" name="Footer Placeholder 4"/>
          <p:cNvSpPr>
            <a:spLocks noGrp="1"/>
          </p:cNvSpPr>
          <p:nvPr>
            <p:ph type="ftr" sz="quarter" idx="11"/>
          </p:nvPr>
        </p:nvSpPr>
        <p:spPr/>
        <p:txBody>
          <a:bodyPr/>
          <a:lstStyle/>
          <a:p>
            <a:r>
              <a:rPr lang="en-US"/>
              <a:t>PRESENTATION TITLE</a:t>
            </a:r>
          </a:p>
        </p:txBody>
      </p:sp>
      <p:sp>
        <p:nvSpPr>
          <p:cNvPr id="6" name="Slide Number Placeholder 5"/>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7" name="Group 6">
            <a:extLst>
              <a:ext uri="{FF2B5EF4-FFF2-40B4-BE49-F238E27FC236}">
                <a16:creationId xmlns:a16="http://schemas.microsoft.com/office/drawing/2014/main" id="{A23CDDAC-C7BC-C026-DBF5-1F441817694A}"/>
              </a:ext>
            </a:extLst>
          </p:cNvPr>
          <p:cNvGrpSpPr/>
          <p:nvPr userDrawn="1"/>
        </p:nvGrpSpPr>
        <p:grpSpPr>
          <a:xfrm>
            <a:off x="0" y="0"/>
            <a:ext cx="12192000" cy="397164"/>
            <a:chOff x="421830" y="1342659"/>
            <a:chExt cx="10018760" cy="290558"/>
          </a:xfrm>
        </p:grpSpPr>
        <p:sp>
          <p:nvSpPr>
            <p:cNvPr id="8" name="Rectangle 7">
              <a:extLst>
                <a:ext uri="{FF2B5EF4-FFF2-40B4-BE49-F238E27FC236}">
                  <a16:creationId xmlns:a16="http://schemas.microsoft.com/office/drawing/2014/main" id="{2093E90F-8348-6507-0CA6-23A77D0FF9D3}"/>
                </a:ext>
              </a:extLst>
            </p:cNvPr>
            <p:cNvSpPr/>
            <p:nvPr userDrawn="1"/>
          </p:nvSpPr>
          <p:spPr>
            <a:xfrm>
              <a:off x="421831" y="1487938"/>
              <a:ext cx="2532791" cy="145279"/>
            </a:xfrm>
            <a:prstGeom prst="rect">
              <a:avLst/>
            </a:prstGeom>
            <a:solidFill>
              <a:srgbClr val="F2E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610C4E9-E0C2-2B5C-6851-9D5D61545008}"/>
                </a:ext>
              </a:extLst>
            </p:cNvPr>
            <p:cNvSpPr/>
            <p:nvPr userDrawn="1"/>
          </p:nvSpPr>
          <p:spPr>
            <a:xfrm>
              <a:off x="2928836" y="1487938"/>
              <a:ext cx="2503918" cy="145279"/>
            </a:xfrm>
            <a:prstGeom prst="rect">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7BCF4D7-716F-52CC-66B7-C2694CA5B51F}"/>
                </a:ext>
              </a:extLst>
            </p:cNvPr>
            <p:cNvSpPr/>
            <p:nvPr userDrawn="1"/>
          </p:nvSpPr>
          <p:spPr>
            <a:xfrm>
              <a:off x="5432754" y="1487938"/>
              <a:ext cx="2503918" cy="145279"/>
            </a:xfrm>
            <a:prstGeom prst="rect">
              <a:avLst/>
            </a:prstGeom>
            <a:solidFill>
              <a:srgbClr val="FE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EE75C32-392B-B376-010B-6A75AE630CBB}"/>
                </a:ext>
              </a:extLst>
            </p:cNvPr>
            <p:cNvSpPr/>
            <p:nvPr userDrawn="1"/>
          </p:nvSpPr>
          <p:spPr>
            <a:xfrm>
              <a:off x="7936672" y="1487938"/>
              <a:ext cx="2503918" cy="145279"/>
            </a:xfrm>
            <a:prstGeom prst="rect">
              <a:avLst/>
            </a:prstGeom>
            <a:solidFill>
              <a:srgbClr val="EBA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C0F947E-B04D-E029-09CB-EEC744D80E2B}"/>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427483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9883" y="434108"/>
            <a:ext cx="11569729" cy="895927"/>
          </a:xfrm>
        </p:spPr>
        <p:txBody>
          <a:bodyPr/>
          <a:lstStyle/>
          <a:p>
            <a:r>
              <a:rPr lang="en-US"/>
              <a:t>CLICK TO EDIT MASTER TITLE STYLE</a:t>
            </a:r>
          </a:p>
        </p:txBody>
      </p:sp>
      <p:sp>
        <p:nvSpPr>
          <p:cNvPr id="3" name="Content Placeholder 2"/>
          <p:cNvSpPr>
            <a:spLocks noGrp="1"/>
          </p:cNvSpPr>
          <p:nvPr>
            <p:ph sz="half" idx="1"/>
          </p:nvPr>
        </p:nvSpPr>
        <p:spPr>
          <a:xfrm>
            <a:off x="259882" y="1413164"/>
            <a:ext cx="5586855" cy="4590472"/>
          </a:xfrm>
        </p:spPr>
        <p:txBody>
          <a:bodyPr/>
          <a:lstStyle>
            <a:lvl1pPr marL="288925" indent="-288925">
              <a:spcBef>
                <a:spcPts val="800"/>
              </a:spcBef>
              <a:spcAft>
                <a:spcPts val="800"/>
              </a:spcAft>
              <a:buFont typeface="Wingdings" charset="2"/>
              <a:buChar char="§"/>
              <a:defRPr/>
            </a:lvl1pPr>
            <a:lvl2pPr marL="685800" indent="-228600">
              <a:spcBef>
                <a:spcPts val="800"/>
              </a:spcBef>
              <a:spcAft>
                <a:spcPts val="800"/>
              </a:spcAft>
              <a:buFont typeface="Wingdings" charset="2"/>
              <a:buChar char="§"/>
              <a:defRPr/>
            </a:lvl2pPr>
            <a:lvl3pPr marL="1143000" indent="-228600">
              <a:spcBef>
                <a:spcPts val="800"/>
              </a:spcBef>
              <a:spcAft>
                <a:spcPts val="800"/>
              </a:spcAft>
              <a:buFont typeface="Wingdings" charset="2"/>
              <a:buChar char="§"/>
              <a:defRPr/>
            </a:lvl3pPr>
            <a:lvl4pPr marL="1600200" indent="-228600">
              <a:spcBef>
                <a:spcPts val="800"/>
              </a:spcBef>
              <a:spcAft>
                <a:spcPts val="800"/>
              </a:spcAft>
              <a:buFont typeface="Wingdings" charset="2"/>
              <a:buChar char="§"/>
              <a:defRPr/>
            </a:lvl4pPr>
            <a:lvl5pPr marL="2057400" indent="-228600">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0992" y="1413164"/>
            <a:ext cx="5658620" cy="4590472"/>
          </a:xfrm>
        </p:spPr>
        <p:txBody>
          <a:bodyPr/>
          <a:lstStyle>
            <a:lvl1pPr marL="288925" indent="-288925">
              <a:spcBef>
                <a:spcPts val="800"/>
              </a:spcBef>
              <a:spcAft>
                <a:spcPts val="800"/>
              </a:spcAft>
              <a:buFont typeface="Wingdings" charset="2"/>
              <a:buChar char="§"/>
              <a:defRPr/>
            </a:lvl1pPr>
            <a:lvl2pPr marL="685800" indent="-228600">
              <a:spcBef>
                <a:spcPts val="800"/>
              </a:spcBef>
              <a:spcAft>
                <a:spcPts val="800"/>
              </a:spcAft>
              <a:buFont typeface="Wingdings" charset="2"/>
              <a:buChar char="§"/>
              <a:defRPr/>
            </a:lvl2pPr>
            <a:lvl3pPr marL="1143000" indent="-228600">
              <a:spcBef>
                <a:spcPts val="800"/>
              </a:spcBef>
              <a:spcAft>
                <a:spcPts val="800"/>
              </a:spcAft>
              <a:buFont typeface="Wingdings" charset="2"/>
              <a:buChar char="§"/>
              <a:defRPr/>
            </a:lvl3pPr>
            <a:lvl4pPr marL="1600200" indent="-228600">
              <a:spcBef>
                <a:spcPts val="800"/>
              </a:spcBef>
              <a:spcAft>
                <a:spcPts val="800"/>
              </a:spcAft>
              <a:buFont typeface="Wingdings" charset="2"/>
              <a:buChar char="§"/>
              <a:defRPr/>
            </a:lvl4pPr>
            <a:lvl5pPr marL="2057400" indent="-228600">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081881F3-AB4F-4026-8B03-DBF7475676B1}" type="datetime1">
              <a:rPr lang="en-US" smtClean="0"/>
              <a:t>11/26/2025</a:t>
            </a:fld>
            <a:endParaRPr lang="en-US"/>
          </a:p>
        </p:txBody>
      </p:sp>
      <p:sp>
        <p:nvSpPr>
          <p:cNvPr id="9" name="Footer Placeholder 8"/>
          <p:cNvSpPr>
            <a:spLocks noGrp="1"/>
          </p:cNvSpPr>
          <p:nvPr>
            <p:ph type="ftr" sz="quarter" idx="11"/>
          </p:nvPr>
        </p:nvSpPr>
        <p:spPr/>
        <p:txBody>
          <a:bodyPr/>
          <a:lstStyle/>
          <a:p>
            <a:r>
              <a:rPr lang="en-US"/>
              <a:t>PRESENTATION TITLE</a:t>
            </a:r>
          </a:p>
        </p:txBody>
      </p:sp>
      <p:sp>
        <p:nvSpPr>
          <p:cNvPr id="10" name="Slide Number Placeholder 9"/>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22385164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9881" y="1396192"/>
            <a:ext cx="5542713" cy="670270"/>
          </a:xfrm>
        </p:spPr>
        <p:txBody>
          <a:bodyPr anchor="b">
            <a:noAutofit/>
          </a:bodyPr>
          <a:lstStyle>
            <a:lvl1pPr marL="0" indent="0">
              <a:buNone/>
              <a:defRPr sz="2800" b="1"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9881" y="2184400"/>
            <a:ext cx="5542713" cy="3846945"/>
          </a:xfrm>
        </p:spPr>
        <p:txBody>
          <a:bodyPr>
            <a:normAutofit/>
          </a:bodyPr>
          <a:lstStyle>
            <a:lvl1pPr marL="288925" indent="-288925">
              <a:spcBef>
                <a:spcPts val="800"/>
              </a:spcBef>
              <a:spcAft>
                <a:spcPts val="800"/>
              </a:spcAft>
              <a:buFont typeface="Wingdings" charset="2"/>
              <a:buChar char="§"/>
              <a:defRPr sz="2000"/>
            </a:lvl1pPr>
            <a:lvl2pPr marL="685800" indent="-228600">
              <a:spcBef>
                <a:spcPts val="800"/>
              </a:spcBef>
              <a:spcAft>
                <a:spcPts val="800"/>
              </a:spcAft>
              <a:buFont typeface="Wingdings" charset="2"/>
              <a:buChar char="§"/>
              <a:defRPr sz="1800"/>
            </a:lvl2pPr>
            <a:lvl3pPr marL="1143000" indent="-228600">
              <a:spcBef>
                <a:spcPts val="800"/>
              </a:spcBef>
              <a:spcAft>
                <a:spcPts val="800"/>
              </a:spcAft>
              <a:buFont typeface="Wingdings" charset="2"/>
              <a:buChar char="§"/>
              <a:defRPr sz="1600"/>
            </a:lvl3pPr>
            <a:lvl4pPr marL="1600200" indent="-228600">
              <a:spcBef>
                <a:spcPts val="800"/>
              </a:spcBef>
              <a:spcAft>
                <a:spcPts val="800"/>
              </a:spcAft>
              <a:buFont typeface="Wingdings" charset="2"/>
              <a:buChar char="§"/>
              <a:defRPr sz="1400"/>
            </a:lvl4pPr>
            <a:lvl5pPr marL="2057400" indent="-228600">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36154" y="1396192"/>
            <a:ext cx="5593458" cy="670270"/>
          </a:xfrm>
        </p:spPr>
        <p:txBody>
          <a:bodyPr anchor="b">
            <a:normAutofit/>
          </a:bodyPr>
          <a:lstStyle>
            <a:lvl1pPr marL="0" indent="0">
              <a:buNone/>
              <a:defRPr sz="28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6154" y="2184400"/>
            <a:ext cx="5593458" cy="3846945"/>
          </a:xfrm>
        </p:spPr>
        <p:txBody>
          <a:bodyPr>
            <a:normAutofit/>
          </a:bodyPr>
          <a:lstStyle>
            <a:lvl1pPr marL="288925" indent="-288925">
              <a:spcBef>
                <a:spcPts val="800"/>
              </a:spcBef>
              <a:spcAft>
                <a:spcPts val="800"/>
              </a:spcAft>
              <a:buFont typeface="Wingdings" charset="2"/>
              <a:buChar char="§"/>
              <a:defRPr sz="2000"/>
            </a:lvl1pPr>
            <a:lvl2pPr marL="685800" indent="-228600">
              <a:spcBef>
                <a:spcPts val="800"/>
              </a:spcBef>
              <a:spcAft>
                <a:spcPts val="800"/>
              </a:spcAft>
              <a:buFont typeface="Wingdings" charset="2"/>
              <a:buChar char="§"/>
              <a:defRPr sz="1800"/>
            </a:lvl2pPr>
            <a:lvl3pPr marL="1143000" indent="-228600">
              <a:spcBef>
                <a:spcPts val="800"/>
              </a:spcBef>
              <a:spcAft>
                <a:spcPts val="800"/>
              </a:spcAft>
              <a:buFont typeface="Wingdings" charset="2"/>
              <a:buChar char="§"/>
              <a:defRPr sz="1600"/>
            </a:lvl3pPr>
            <a:lvl4pPr marL="1600200" indent="-228600">
              <a:spcBef>
                <a:spcPts val="800"/>
              </a:spcBef>
              <a:spcAft>
                <a:spcPts val="800"/>
              </a:spcAft>
              <a:buFont typeface="Wingdings" charset="2"/>
              <a:buChar char="§"/>
              <a:defRPr sz="1400"/>
            </a:lvl4pPr>
            <a:lvl5pPr marL="2057400" indent="-228600">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p:cNvSpPr>
            <a:spLocks noGrp="1"/>
          </p:cNvSpPr>
          <p:nvPr>
            <p:ph type="title" hasCustomPrompt="1"/>
          </p:nvPr>
        </p:nvSpPr>
        <p:spPr>
          <a:xfrm>
            <a:off x="259883" y="434108"/>
            <a:ext cx="11569729" cy="895927"/>
          </a:xfrm>
        </p:spPr>
        <p:txBody>
          <a:bodyPr/>
          <a:lstStyle/>
          <a:p>
            <a:r>
              <a:rPr lang="en-US"/>
              <a:t>CLICK TO EDIT MASTER TITLE STYLE</a:t>
            </a:r>
          </a:p>
        </p:txBody>
      </p:sp>
      <p:sp>
        <p:nvSpPr>
          <p:cNvPr id="2" name="Date Placeholder 1"/>
          <p:cNvSpPr>
            <a:spLocks noGrp="1"/>
          </p:cNvSpPr>
          <p:nvPr>
            <p:ph type="dt" sz="half" idx="10"/>
          </p:nvPr>
        </p:nvSpPr>
        <p:spPr/>
        <p:txBody>
          <a:bodyPr/>
          <a:lstStyle/>
          <a:p>
            <a:fld id="{C17F432B-3FBE-4889-963D-BF97BFBB7D3F}" type="datetime1">
              <a:rPr lang="en-US" smtClean="0"/>
              <a:t>11/26/2025</a:t>
            </a:fld>
            <a:endParaRPr lang="en-US"/>
          </a:p>
        </p:txBody>
      </p:sp>
      <p:sp>
        <p:nvSpPr>
          <p:cNvPr id="11" name="Footer Placeholder 10"/>
          <p:cNvSpPr>
            <a:spLocks noGrp="1"/>
          </p:cNvSpPr>
          <p:nvPr>
            <p:ph type="ftr" sz="quarter" idx="11"/>
          </p:nvPr>
        </p:nvSpPr>
        <p:spPr/>
        <p:txBody>
          <a:bodyPr/>
          <a:lstStyle/>
          <a:p>
            <a:r>
              <a:rPr lang="en-US"/>
              <a:t>PRESENTATION TITLE</a:t>
            </a:r>
          </a:p>
        </p:txBody>
      </p:sp>
      <p:sp>
        <p:nvSpPr>
          <p:cNvPr id="12" name="Slide Number Placeholder 11"/>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5195986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fld id="{310CCC04-1E76-41EE-A8AC-75AD85313D09}" type="datetime1">
              <a:rPr lang="en-US" smtClean="0"/>
              <a:t>11/26/2025</a:t>
            </a:fld>
            <a:endParaRPr lang="en-US"/>
          </a:p>
        </p:txBody>
      </p:sp>
      <p:sp>
        <p:nvSpPr>
          <p:cNvPr id="7" name="Footer Placeholder 6"/>
          <p:cNvSpPr>
            <a:spLocks noGrp="1"/>
          </p:cNvSpPr>
          <p:nvPr>
            <p:ph type="ftr" sz="quarter" idx="11"/>
          </p:nvPr>
        </p:nvSpPr>
        <p:spPr/>
        <p:txBody>
          <a:bodyPr/>
          <a:lstStyle/>
          <a:p>
            <a:r>
              <a:rPr lang="en-US"/>
              <a:t>PRESENTATION TITLE</a:t>
            </a:r>
          </a:p>
        </p:txBody>
      </p:sp>
      <p:sp>
        <p:nvSpPr>
          <p:cNvPr id="8" name="Slide Number Placeholder 7"/>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27084870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83974A9E-84AC-4661-9381-CC35B09E47F7}" type="datetime1">
              <a:rPr lang="en-US" smtClean="0"/>
              <a:t>11/26/2025</a:t>
            </a:fld>
            <a:endParaRPr lang="en-US"/>
          </a:p>
        </p:txBody>
      </p:sp>
      <p:sp>
        <p:nvSpPr>
          <p:cNvPr id="6" name="Footer Placeholder 5"/>
          <p:cNvSpPr>
            <a:spLocks noGrp="1"/>
          </p:cNvSpPr>
          <p:nvPr>
            <p:ph type="ftr" sz="quarter" idx="11"/>
          </p:nvPr>
        </p:nvSpPr>
        <p:spPr/>
        <p:txBody>
          <a:bodyPr/>
          <a:lstStyle/>
          <a:p>
            <a:r>
              <a:rPr lang="en-US"/>
              <a:t>PRESENTATION TITLE</a:t>
            </a:r>
          </a:p>
        </p:txBody>
      </p:sp>
      <p:sp>
        <p:nvSpPr>
          <p:cNvPr id="7" name="Slide Number Placeholder 6"/>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spTree>
    <p:extLst>
      <p:ext uri="{BB962C8B-B14F-4D97-AF65-F5344CB8AC3E}">
        <p14:creationId xmlns:p14="http://schemas.microsoft.com/office/powerpoint/2010/main" val="7431656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10751004" y="6335309"/>
            <a:ext cx="1181114" cy="250337"/>
          </a:xfrm>
        </p:spPr>
        <p:txBody>
          <a:bodyPr/>
          <a:lstStyle/>
          <a:p>
            <a:fld id="{1E55829F-8847-4C2A-8DD0-690EAD78E53F}" type="datetime1">
              <a:rPr lang="en-US" smtClean="0"/>
              <a:t>11/26/2025</a:t>
            </a:fld>
            <a:endParaRPr lang="en-US"/>
          </a:p>
        </p:txBody>
      </p:sp>
      <p:sp>
        <p:nvSpPr>
          <p:cNvPr id="6" name="Footer Placeholder 5"/>
          <p:cNvSpPr>
            <a:spLocks noGrp="1"/>
          </p:cNvSpPr>
          <p:nvPr>
            <p:ph type="ftr" sz="quarter" idx="11"/>
          </p:nvPr>
        </p:nvSpPr>
        <p:spPr/>
        <p:txBody>
          <a:bodyPr/>
          <a:lstStyle/>
          <a:p>
            <a:r>
              <a:rPr lang="en-US"/>
              <a:t>PRESENTATION TITLE</a:t>
            </a:r>
          </a:p>
        </p:txBody>
      </p:sp>
      <p:sp>
        <p:nvSpPr>
          <p:cNvPr id="7" name="Slide Number Placeholder 6"/>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2" name="Group 1">
            <a:extLst>
              <a:ext uri="{FF2B5EF4-FFF2-40B4-BE49-F238E27FC236}">
                <a16:creationId xmlns:a16="http://schemas.microsoft.com/office/drawing/2014/main" id="{84CEECD4-4800-71B3-500D-D8DB8ECD7D8D}"/>
              </a:ext>
            </a:extLst>
          </p:cNvPr>
          <p:cNvGrpSpPr/>
          <p:nvPr userDrawn="1"/>
        </p:nvGrpSpPr>
        <p:grpSpPr>
          <a:xfrm>
            <a:off x="0" y="0"/>
            <a:ext cx="12192000" cy="397164"/>
            <a:chOff x="421830" y="1342659"/>
            <a:chExt cx="10018760" cy="290558"/>
          </a:xfrm>
        </p:grpSpPr>
        <p:sp>
          <p:nvSpPr>
            <p:cNvPr id="3" name="Rectangle 2">
              <a:extLst>
                <a:ext uri="{FF2B5EF4-FFF2-40B4-BE49-F238E27FC236}">
                  <a16:creationId xmlns:a16="http://schemas.microsoft.com/office/drawing/2014/main" id="{E5DB53A1-9CD0-9270-2A9B-841D9E8E7C98}"/>
                </a:ext>
              </a:extLst>
            </p:cNvPr>
            <p:cNvSpPr/>
            <p:nvPr userDrawn="1"/>
          </p:nvSpPr>
          <p:spPr>
            <a:xfrm>
              <a:off x="421831" y="1487938"/>
              <a:ext cx="2532791" cy="145279"/>
            </a:xfrm>
            <a:prstGeom prst="rect">
              <a:avLst/>
            </a:prstGeom>
            <a:solidFill>
              <a:srgbClr val="F2E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0238B9E-5961-89CA-949B-73D627619ADE}"/>
                </a:ext>
              </a:extLst>
            </p:cNvPr>
            <p:cNvSpPr/>
            <p:nvPr userDrawn="1"/>
          </p:nvSpPr>
          <p:spPr>
            <a:xfrm>
              <a:off x="2928836" y="1487938"/>
              <a:ext cx="2503918" cy="145279"/>
            </a:xfrm>
            <a:prstGeom prst="rect">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0B4FFA6-3B2D-F2A7-3300-59721970DC69}"/>
                </a:ext>
              </a:extLst>
            </p:cNvPr>
            <p:cNvSpPr/>
            <p:nvPr userDrawn="1"/>
          </p:nvSpPr>
          <p:spPr>
            <a:xfrm>
              <a:off x="5432754" y="1487938"/>
              <a:ext cx="2503918" cy="145279"/>
            </a:xfrm>
            <a:prstGeom prst="rect">
              <a:avLst/>
            </a:prstGeom>
            <a:solidFill>
              <a:srgbClr val="FE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795B991-F449-37E7-F856-FDA75449C532}"/>
                </a:ext>
              </a:extLst>
            </p:cNvPr>
            <p:cNvSpPr/>
            <p:nvPr userDrawn="1"/>
          </p:nvSpPr>
          <p:spPr>
            <a:xfrm>
              <a:off x="7936672" y="1487938"/>
              <a:ext cx="2503918" cy="145279"/>
            </a:xfrm>
            <a:prstGeom prst="rect">
              <a:avLst/>
            </a:prstGeom>
            <a:solidFill>
              <a:srgbClr val="EBA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BFF1749-63D7-B78A-277A-2B74411FA25C}"/>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876784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30071" y="1237675"/>
            <a:ext cx="4331855" cy="910202"/>
          </a:xfrm>
        </p:spPr>
        <p:txBody>
          <a:bodyPr anchor="b">
            <a:normAutofit/>
          </a:bodyPr>
          <a:lstStyle>
            <a:lvl1pPr algn="ctr">
              <a:defRPr sz="2800" cap="all" baseline="0"/>
            </a:lvl1pPr>
          </a:lstStyle>
          <a:p>
            <a:r>
              <a:rPr lang="en-US"/>
              <a:t>CONTEXT or THEME</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11/26/2025</a:t>
            </a:fld>
            <a:endParaRPr lang="en-US"/>
          </a:p>
        </p:txBody>
      </p:sp>
      <p:sp>
        <p:nvSpPr>
          <p:cNvPr id="4" name="Footer Placeholder 3"/>
          <p:cNvSpPr>
            <a:spLocks noGrp="1"/>
          </p:cNvSpPr>
          <p:nvPr>
            <p:ph type="ftr" sz="quarter" idx="11"/>
          </p:nvPr>
        </p:nvSpPr>
        <p:spPr/>
        <p:txBody>
          <a:bodyPr/>
          <a:lstStyle/>
          <a:p>
            <a:r>
              <a:rPr lang="en-US"/>
              <a:t>PRESENTATION TITLE</a:t>
            </a:r>
          </a:p>
        </p:txBody>
      </p:sp>
      <p:sp>
        <p:nvSpPr>
          <p:cNvPr id="5" name="Slide Number Placeholder 4"/>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cxnSp>
        <p:nvCxnSpPr>
          <p:cNvPr id="12" name="Straight Connector 11">
            <a:extLst>
              <a:ext uri="{C183D7F6-B498-43B3-948B-1728B52AA6E4}">
                <adec:decorative xmlns:adec="http://schemas.microsoft.com/office/drawing/2017/decorative" val="1"/>
              </a:ext>
            </a:extLst>
          </p:cNvPr>
          <p:cNvCxnSpPr/>
          <p:nvPr userDrawn="1"/>
        </p:nvCxnSpPr>
        <p:spPr>
          <a:xfrm>
            <a:off x="3930073" y="2244437"/>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C183D7F6-B498-43B3-948B-1728B52AA6E4}">
                <adec:decorative xmlns:adec="http://schemas.microsoft.com/office/drawing/2017/decorative" val="1"/>
              </a:ext>
            </a:extLst>
          </p:cNvPr>
          <p:cNvCxnSpPr/>
          <p:nvPr userDrawn="1"/>
        </p:nvCxnSpPr>
        <p:spPr>
          <a:xfrm>
            <a:off x="3930073" y="4668983"/>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660400" y="2420360"/>
            <a:ext cx="108712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3930072" y="4784725"/>
            <a:ext cx="4331855"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grpSp>
        <p:nvGrpSpPr>
          <p:cNvPr id="6" name="Group 5">
            <a:extLst>
              <a:ext uri="{FF2B5EF4-FFF2-40B4-BE49-F238E27FC236}">
                <a16:creationId xmlns:a16="http://schemas.microsoft.com/office/drawing/2014/main" id="{4FDE9AFA-FFD7-2347-3167-FDF1E0A34AC3}"/>
              </a:ext>
            </a:extLst>
          </p:cNvPr>
          <p:cNvGrpSpPr/>
          <p:nvPr userDrawn="1"/>
        </p:nvGrpSpPr>
        <p:grpSpPr>
          <a:xfrm>
            <a:off x="0" y="0"/>
            <a:ext cx="12192000" cy="397164"/>
            <a:chOff x="421830" y="1342659"/>
            <a:chExt cx="10018760" cy="290558"/>
          </a:xfrm>
        </p:grpSpPr>
        <p:sp>
          <p:nvSpPr>
            <p:cNvPr id="7" name="Rectangle 6">
              <a:extLst>
                <a:ext uri="{FF2B5EF4-FFF2-40B4-BE49-F238E27FC236}">
                  <a16:creationId xmlns:a16="http://schemas.microsoft.com/office/drawing/2014/main" id="{76E5C5A6-6C2A-AFEE-BD17-49528C3855FB}"/>
                </a:ext>
              </a:extLst>
            </p:cNvPr>
            <p:cNvSpPr/>
            <p:nvPr userDrawn="1"/>
          </p:nvSpPr>
          <p:spPr>
            <a:xfrm>
              <a:off x="421831" y="1487938"/>
              <a:ext cx="2532791" cy="145279"/>
            </a:xfrm>
            <a:prstGeom prst="rect">
              <a:avLst/>
            </a:prstGeom>
            <a:solidFill>
              <a:srgbClr val="F2E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BD549B1-F3EA-848F-3C95-AFBB4052AC0B}"/>
                </a:ext>
              </a:extLst>
            </p:cNvPr>
            <p:cNvSpPr/>
            <p:nvPr userDrawn="1"/>
          </p:nvSpPr>
          <p:spPr>
            <a:xfrm>
              <a:off x="2928836" y="1487938"/>
              <a:ext cx="2503918" cy="145279"/>
            </a:xfrm>
            <a:prstGeom prst="rect">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D0A31AE-FDE0-EF4E-8CB4-92A0FFF2647C}"/>
                </a:ext>
              </a:extLst>
            </p:cNvPr>
            <p:cNvSpPr/>
            <p:nvPr userDrawn="1"/>
          </p:nvSpPr>
          <p:spPr>
            <a:xfrm>
              <a:off x="5432754" y="1487938"/>
              <a:ext cx="2503918" cy="145279"/>
            </a:xfrm>
            <a:prstGeom prst="rect">
              <a:avLst/>
            </a:prstGeom>
            <a:solidFill>
              <a:srgbClr val="FE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1D21763-0A4C-FA7D-9F37-F8AFE615EED6}"/>
                </a:ext>
              </a:extLst>
            </p:cNvPr>
            <p:cNvSpPr/>
            <p:nvPr userDrawn="1"/>
          </p:nvSpPr>
          <p:spPr>
            <a:xfrm>
              <a:off x="7936672" y="1487938"/>
              <a:ext cx="2503918" cy="145279"/>
            </a:xfrm>
            <a:prstGeom prst="rect">
              <a:avLst/>
            </a:prstGeom>
            <a:solidFill>
              <a:srgbClr val="EBA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72AC8E2-F6D4-FD99-70C6-77755885A9A4}"/>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641981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6350285" y="845819"/>
            <a:ext cx="5440648" cy="5407201"/>
          </a:xfrm>
        </p:spPr>
        <p:txBody>
          <a:bodyPr/>
          <a:lstStyle/>
          <a:p>
            <a:r>
              <a:rPr lang="en-US"/>
              <a:t>Click icon to add picture</a:t>
            </a:r>
          </a:p>
        </p:txBody>
      </p:sp>
      <p:sp>
        <p:nvSpPr>
          <p:cNvPr id="2" name="Title 1"/>
          <p:cNvSpPr>
            <a:spLocks noGrp="1"/>
          </p:cNvSpPr>
          <p:nvPr>
            <p:ph type="title" hasCustomPrompt="1"/>
          </p:nvPr>
        </p:nvSpPr>
        <p:spPr>
          <a:xfrm>
            <a:off x="854362" y="1237675"/>
            <a:ext cx="4331855" cy="910202"/>
          </a:xfrm>
        </p:spPr>
        <p:txBody>
          <a:bodyPr anchor="b">
            <a:normAutofit/>
          </a:bodyPr>
          <a:lstStyle>
            <a:lvl1pPr algn="ctr">
              <a:defRPr sz="2800" cap="all" baseline="0"/>
            </a:lvl1pPr>
          </a:lstStyle>
          <a:p>
            <a:r>
              <a:rPr lang="en-US"/>
              <a:t>CONTEXT or THEME</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11/26/2025</a:t>
            </a:fld>
            <a:endParaRPr lang="en-US"/>
          </a:p>
        </p:txBody>
      </p:sp>
      <p:sp>
        <p:nvSpPr>
          <p:cNvPr id="4" name="Footer Placeholder 3"/>
          <p:cNvSpPr>
            <a:spLocks noGrp="1"/>
          </p:cNvSpPr>
          <p:nvPr>
            <p:ph type="ftr" sz="quarter" idx="11"/>
          </p:nvPr>
        </p:nvSpPr>
        <p:spPr>
          <a:xfrm>
            <a:off x="259882" y="6335309"/>
            <a:ext cx="3887245" cy="250337"/>
          </a:xfrm>
        </p:spPr>
        <p:txBody>
          <a:bodyPr/>
          <a:lstStyle/>
          <a:p>
            <a:r>
              <a:rPr lang="en-US"/>
              <a:t>PRESENTATION TITLE</a:t>
            </a:r>
          </a:p>
        </p:txBody>
      </p:sp>
      <p:sp>
        <p:nvSpPr>
          <p:cNvPr id="5" name="Slide Number Placeholder 4"/>
          <p:cNvSpPr>
            <a:spLocks noGrp="1"/>
          </p:cNvSpPr>
          <p:nvPr>
            <p:ph type="sldNum" sz="quarter" idx="12"/>
          </p:nvPr>
        </p:nvSpPr>
        <p:spPr>
          <a:xfrm>
            <a:off x="5587999" y="6335309"/>
            <a:ext cx="1016000" cy="250337"/>
          </a:xfrm>
        </p:spPr>
        <p:txBody>
          <a:bodyPr/>
          <a:lstStyle/>
          <a:p>
            <a:r>
              <a:rPr lang="en-US"/>
              <a:t>PAGE  </a:t>
            </a:r>
            <a:fld id="{93005692-73BE-493E-93AB-ECD6027A7652}" type="slidenum">
              <a:rPr lang="en-US" smtClean="0"/>
              <a:pPr/>
              <a:t>‹#›</a:t>
            </a:fld>
            <a:endParaRPr lang="en-US"/>
          </a:p>
        </p:txBody>
      </p:sp>
      <p:sp>
        <p:nvSpPr>
          <p:cNvPr id="15" name="Text Placeholder 14"/>
          <p:cNvSpPr>
            <a:spLocks noGrp="1"/>
          </p:cNvSpPr>
          <p:nvPr>
            <p:ph type="body" sz="quarter" idx="13"/>
          </p:nvPr>
        </p:nvSpPr>
        <p:spPr>
          <a:xfrm>
            <a:off x="544943" y="2409026"/>
            <a:ext cx="4950694"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854362" y="4784725"/>
            <a:ext cx="4331855"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a:extLst>
              <a:ext uri="{C183D7F6-B498-43B3-948B-1728B52AA6E4}">
                <adec:decorative xmlns:adec="http://schemas.microsoft.com/office/drawing/2017/decorative" val="1"/>
              </a:ext>
            </a:extLst>
          </p:cNvPr>
          <p:cNvCxnSpPr/>
          <p:nvPr userDrawn="1"/>
        </p:nvCxnSpPr>
        <p:spPr>
          <a:xfrm>
            <a:off x="854363" y="2244437"/>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C183D7F6-B498-43B3-948B-1728B52AA6E4}">
                <adec:decorative xmlns:adec="http://schemas.microsoft.com/office/drawing/2017/decorative" val="1"/>
              </a:ext>
            </a:extLst>
          </p:cNvPr>
          <p:cNvCxnSpPr/>
          <p:nvPr userDrawn="1"/>
        </p:nvCxnSpPr>
        <p:spPr>
          <a:xfrm>
            <a:off x="854363" y="4668983"/>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D72C6A36-12A8-648E-3569-D00054B97EDE}"/>
              </a:ext>
            </a:extLst>
          </p:cNvPr>
          <p:cNvGrpSpPr/>
          <p:nvPr userDrawn="1"/>
        </p:nvGrpSpPr>
        <p:grpSpPr>
          <a:xfrm>
            <a:off x="0" y="0"/>
            <a:ext cx="12192000" cy="397164"/>
            <a:chOff x="421830" y="1342659"/>
            <a:chExt cx="10018760" cy="290558"/>
          </a:xfrm>
        </p:grpSpPr>
        <p:sp>
          <p:nvSpPr>
            <p:cNvPr id="8" name="Rectangle 7">
              <a:extLst>
                <a:ext uri="{FF2B5EF4-FFF2-40B4-BE49-F238E27FC236}">
                  <a16:creationId xmlns:a16="http://schemas.microsoft.com/office/drawing/2014/main" id="{9341EFA2-509C-A2DA-BAFE-6A88632CD8BD}"/>
                </a:ext>
              </a:extLst>
            </p:cNvPr>
            <p:cNvSpPr/>
            <p:nvPr userDrawn="1"/>
          </p:nvSpPr>
          <p:spPr>
            <a:xfrm>
              <a:off x="421831" y="1487938"/>
              <a:ext cx="2532791" cy="145279"/>
            </a:xfrm>
            <a:prstGeom prst="rect">
              <a:avLst/>
            </a:prstGeom>
            <a:solidFill>
              <a:srgbClr val="F2E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475CC21-076A-A811-68B0-7FD8CD8D56F3}"/>
                </a:ext>
              </a:extLst>
            </p:cNvPr>
            <p:cNvSpPr/>
            <p:nvPr userDrawn="1"/>
          </p:nvSpPr>
          <p:spPr>
            <a:xfrm>
              <a:off x="2928836" y="1487938"/>
              <a:ext cx="2503918" cy="145279"/>
            </a:xfrm>
            <a:prstGeom prst="rect">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C91703A-A99F-06CE-B55C-0D09FBAF811B}"/>
                </a:ext>
              </a:extLst>
            </p:cNvPr>
            <p:cNvSpPr/>
            <p:nvPr userDrawn="1"/>
          </p:nvSpPr>
          <p:spPr>
            <a:xfrm>
              <a:off x="5432754" y="1487938"/>
              <a:ext cx="2503918" cy="145279"/>
            </a:xfrm>
            <a:prstGeom prst="rect">
              <a:avLst/>
            </a:prstGeom>
            <a:solidFill>
              <a:srgbClr val="FE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60600EF-94C1-BC1E-4FA3-4CC356E82A0C}"/>
                </a:ext>
              </a:extLst>
            </p:cNvPr>
            <p:cNvSpPr/>
            <p:nvPr userDrawn="1"/>
          </p:nvSpPr>
          <p:spPr>
            <a:xfrm>
              <a:off x="7936672" y="1487938"/>
              <a:ext cx="2503918" cy="145279"/>
            </a:xfrm>
            <a:prstGeom prst="rect">
              <a:avLst/>
            </a:prstGeom>
            <a:solidFill>
              <a:srgbClr val="EBA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069E7EA-C348-85EA-0BB1-F112127EBF12}"/>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33173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err="1"/>
              <a:t>Subheader</a:t>
            </a:r>
            <a:endParaRPr lang="en-US"/>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cap="all" baseline="0"/>
            </a:lvl1pPr>
          </a:lstStyle>
          <a:p>
            <a:r>
              <a:rPr lang="en-US"/>
              <a:t>SECTION DIVIDER</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11/26/2025</a:t>
            </a:fld>
            <a:endParaRPr lang="en-US"/>
          </a:p>
        </p:txBody>
      </p:sp>
      <p:sp>
        <p:nvSpPr>
          <p:cNvPr id="4" name="Footer Placeholder 3"/>
          <p:cNvSpPr>
            <a:spLocks noGrp="1"/>
          </p:cNvSpPr>
          <p:nvPr>
            <p:ph type="ftr" sz="quarter" idx="11"/>
          </p:nvPr>
        </p:nvSpPr>
        <p:spPr/>
        <p:txBody>
          <a:bodyPr/>
          <a:lstStyle/>
          <a:p>
            <a:r>
              <a:rPr lang="en-US"/>
              <a:t>PRESENTATION TITLE</a:t>
            </a:r>
          </a:p>
        </p:txBody>
      </p:sp>
      <p:sp>
        <p:nvSpPr>
          <p:cNvPr id="5" name="Slide Number Placeholder 4"/>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6" name="Group 5">
            <a:extLst>
              <a:ext uri="{FF2B5EF4-FFF2-40B4-BE49-F238E27FC236}">
                <a16:creationId xmlns:a16="http://schemas.microsoft.com/office/drawing/2014/main" id="{286E267E-B65C-F4B3-6286-047BB3E93079}"/>
              </a:ext>
            </a:extLst>
          </p:cNvPr>
          <p:cNvGrpSpPr/>
          <p:nvPr userDrawn="1"/>
        </p:nvGrpSpPr>
        <p:grpSpPr>
          <a:xfrm>
            <a:off x="0" y="0"/>
            <a:ext cx="12192000" cy="397164"/>
            <a:chOff x="421830" y="1342659"/>
            <a:chExt cx="10018760" cy="290558"/>
          </a:xfrm>
        </p:grpSpPr>
        <p:sp>
          <p:nvSpPr>
            <p:cNvPr id="14" name="Rectangle 13">
              <a:extLst>
                <a:ext uri="{FF2B5EF4-FFF2-40B4-BE49-F238E27FC236}">
                  <a16:creationId xmlns:a16="http://schemas.microsoft.com/office/drawing/2014/main" id="{E3736B7B-B04C-12D3-2026-E56D619F8DA3}"/>
                </a:ext>
              </a:extLst>
            </p:cNvPr>
            <p:cNvSpPr/>
            <p:nvPr userDrawn="1"/>
          </p:nvSpPr>
          <p:spPr>
            <a:xfrm>
              <a:off x="421831" y="1487938"/>
              <a:ext cx="2532791" cy="145279"/>
            </a:xfrm>
            <a:prstGeom prst="rect">
              <a:avLst/>
            </a:prstGeom>
            <a:solidFill>
              <a:srgbClr val="F2E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6331547-A9DB-F53A-721D-FDBAE7A1BAA4}"/>
                </a:ext>
              </a:extLst>
            </p:cNvPr>
            <p:cNvSpPr/>
            <p:nvPr userDrawn="1"/>
          </p:nvSpPr>
          <p:spPr>
            <a:xfrm>
              <a:off x="2928836" y="1487938"/>
              <a:ext cx="2503918" cy="145279"/>
            </a:xfrm>
            <a:prstGeom prst="rect">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056261B-07B2-A56E-A728-17FD21096879}"/>
                </a:ext>
              </a:extLst>
            </p:cNvPr>
            <p:cNvSpPr/>
            <p:nvPr userDrawn="1"/>
          </p:nvSpPr>
          <p:spPr>
            <a:xfrm>
              <a:off x="5432754" y="1487938"/>
              <a:ext cx="2503918" cy="145279"/>
            </a:xfrm>
            <a:prstGeom prst="rect">
              <a:avLst/>
            </a:prstGeom>
            <a:solidFill>
              <a:srgbClr val="FE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07BC18F-6CFE-55D8-BE1F-9202FC65B49C}"/>
                </a:ext>
              </a:extLst>
            </p:cNvPr>
            <p:cNvSpPr/>
            <p:nvPr userDrawn="1"/>
          </p:nvSpPr>
          <p:spPr>
            <a:xfrm>
              <a:off x="7936672" y="1487938"/>
              <a:ext cx="2503918" cy="145279"/>
            </a:xfrm>
            <a:prstGeom prst="rect">
              <a:avLst/>
            </a:prstGeom>
            <a:solidFill>
              <a:srgbClr val="EBA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0FCE5BD-A2E3-BD85-F1DC-9C10B47153A4}"/>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677280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rgbClr val="FED34C"/>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err="1"/>
              <a:t>Subheader</a:t>
            </a:r>
            <a:endParaRPr lang="en-US"/>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cap="all" baseline="0"/>
            </a:lvl1pPr>
          </a:lstStyle>
          <a:p>
            <a:r>
              <a:rPr lang="en-US"/>
              <a:t>SECTION DIVIDER</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11/26/2025</a:t>
            </a:fld>
            <a:endParaRPr lang="en-US"/>
          </a:p>
        </p:txBody>
      </p:sp>
      <p:sp>
        <p:nvSpPr>
          <p:cNvPr id="4" name="Footer Placeholder 3"/>
          <p:cNvSpPr>
            <a:spLocks noGrp="1"/>
          </p:cNvSpPr>
          <p:nvPr>
            <p:ph type="ftr" sz="quarter" idx="11"/>
          </p:nvPr>
        </p:nvSpPr>
        <p:spPr/>
        <p:txBody>
          <a:bodyPr/>
          <a:lstStyle/>
          <a:p>
            <a:r>
              <a:rPr lang="en-US"/>
              <a:t>PRESENTATION TITLE</a:t>
            </a:r>
          </a:p>
        </p:txBody>
      </p:sp>
      <p:sp>
        <p:nvSpPr>
          <p:cNvPr id="5" name="Slide Number Placeholder 4"/>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6" name="Group 5">
            <a:extLst>
              <a:ext uri="{FF2B5EF4-FFF2-40B4-BE49-F238E27FC236}">
                <a16:creationId xmlns:a16="http://schemas.microsoft.com/office/drawing/2014/main" id="{5C257420-CE83-4866-3EA3-381C0CFC3158}"/>
              </a:ext>
            </a:extLst>
          </p:cNvPr>
          <p:cNvGrpSpPr/>
          <p:nvPr userDrawn="1"/>
        </p:nvGrpSpPr>
        <p:grpSpPr>
          <a:xfrm>
            <a:off x="0" y="0"/>
            <a:ext cx="12192000" cy="397164"/>
            <a:chOff x="421830" y="1342659"/>
            <a:chExt cx="10018760" cy="290558"/>
          </a:xfrm>
        </p:grpSpPr>
        <p:sp>
          <p:nvSpPr>
            <p:cNvPr id="14" name="Rectangle 13">
              <a:extLst>
                <a:ext uri="{FF2B5EF4-FFF2-40B4-BE49-F238E27FC236}">
                  <a16:creationId xmlns:a16="http://schemas.microsoft.com/office/drawing/2014/main" id="{A8621F66-77FA-4999-E325-230D9B669B97}"/>
                </a:ext>
              </a:extLst>
            </p:cNvPr>
            <p:cNvSpPr/>
            <p:nvPr userDrawn="1"/>
          </p:nvSpPr>
          <p:spPr>
            <a:xfrm>
              <a:off x="421831" y="1487938"/>
              <a:ext cx="2532791" cy="145279"/>
            </a:xfrm>
            <a:prstGeom prst="rect">
              <a:avLst/>
            </a:prstGeom>
            <a:solidFill>
              <a:srgbClr val="F2E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042B54D-8327-3710-DF48-EE39609CDDA0}"/>
                </a:ext>
              </a:extLst>
            </p:cNvPr>
            <p:cNvSpPr/>
            <p:nvPr userDrawn="1"/>
          </p:nvSpPr>
          <p:spPr>
            <a:xfrm>
              <a:off x="2928836" y="1487938"/>
              <a:ext cx="2503918" cy="145279"/>
            </a:xfrm>
            <a:prstGeom prst="rect">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DCFC16C-2941-FB67-C5DD-46A3F3A9A173}"/>
                </a:ext>
              </a:extLst>
            </p:cNvPr>
            <p:cNvSpPr/>
            <p:nvPr userDrawn="1"/>
          </p:nvSpPr>
          <p:spPr>
            <a:xfrm>
              <a:off x="5432754" y="1487938"/>
              <a:ext cx="2503918" cy="145279"/>
            </a:xfrm>
            <a:prstGeom prst="rect">
              <a:avLst/>
            </a:prstGeom>
            <a:solidFill>
              <a:srgbClr val="FE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34C2BD1-3A50-A203-B064-3DCD3906F6F2}"/>
                </a:ext>
              </a:extLst>
            </p:cNvPr>
            <p:cNvSpPr/>
            <p:nvPr userDrawn="1"/>
          </p:nvSpPr>
          <p:spPr>
            <a:xfrm>
              <a:off x="7936672" y="1487938"/>
              <a:ext cx="2503918" cy="145279"/>
            </a:xfrm>
            <a:prstGeom prst="rect">
              <a:avLst/>
            </a:prstGeom>
            <a:solidFill>
              <a:srgbClr val="EBA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E1944A9-11DF-DB57-300B-F689B08F4D3C}"/>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668287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err="1"/>
              <a:t>Subheader</a:t>
            </a:r>
            <a:endParaRPr lang="en-US"/>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cap="all" baseline="0">
                <a:solidFill>
                  <a:schemeClr val="bg1"/>
                </a:solidFill>
              </a:defRPr>
            </a:lvl1pPr>
          </a:lstStyle>
          <a:p>
            <a:r>
              <a:rPr lang="en-US"/>
              <a:t>SECTION DIVIDER</a:t>
            </a:r>
          </a:p>
        </p:txBody>
      </p:sp>
      <p:sp>
        <p:nvSpPr>
          <p:cNvPr id="3" name="Date Placeholder 2"/>
          <p:cNvSpPr>
            <a:spLocks noGrp="1"/>
          </p:cNvSpPr>
          <p:nvPr>
            <p:ph type="dt" sz="half" idx="10"/>
          </p:nvPr>
        </p:nvSpPr>
        <p:spPr>
          <a:xfrm>
            <a:off x="10751004" y="6335309"/>
            <a:ext cx="1181114" cy="250337"/>
          </a:xfrm>
        </p:spPr>
        <p:txBody>
          <a:bodyPr/>
          <a:lstStyle>
            <a:lvl1pPr>
              <a:defRPr>
                <a:solidFill>
                  <a:schemeClr val="bg1"/>
                </a:solidFill>
              </a:defRPr>
            </a:lvl1pPr>
          </a:lstStyle>
          <a:p>
            <a:fld id="{5FDFC970-B950-4395-A833-47227D4A68CA}" type="datetime1">
              <a:rPr lang="en-US" smtClean="0"/>
              <a:pPr/>
              <a:t>11/26/2025</a:t>
            </a:fld>
            <a:endParaRPr lang="en-US"/>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a:t>PRESENTATION TITLE</a:t>
            </a:r>
          </a:p>
        </p:txBody>
      </p:sp>
      <p:sp>
        <p:nvSpPr>
          <p:cNvPr id="5" name="Slide Number Placeholder 4"/>
          <p:cNvSpPr>
            <a:spLocks noGrp="1"/>
          </p:cNvSpPr>
          <p:nvPr>
            <p:ph type="sldNum" sz="quarter" idx="12"/>
          </p:nvPr>
        </p:nvSpPr>
        <p:spPr/>
        <p:txBody>
          <a:bodyPr/>
          <a:lstStyle>
            <a:lvl1pPr>
              <a:defRPr>
                <a:solidFill>
                  <a:schemeClr val="bg1"/>
                </a:solidFill>
              </a:defRPr>
            </a:lvl1pPr>
          </a:lstStyle>
          <a:p>
            <a:r>
              <a:rPr lang="en-US"/>
              <a:t>PAGE  </a:t>
            </a:r>
            <a:fld id="{93005692-73BE-493E-93AB-ECD6027A7652}" type="slidenum">
              <a:rPr lang="en-US" smtClean="0"/>
              <a:pPr/>
              <a:t>‹#›</a:t>
            </a:fld>
            <a:endParaRPr lang="en-US"/>
          </a:p>
        </p:txBody>
      </p:sp>
      <p:grpSp>
        <p:nvGrpSpPr>
          <p:cNvPr id="19" name="Group 18">
            <a:extLst>
              <a:ext uri="{FF2B5EF4-FFF2-40B4-BE49-F238E27FC236}">
                <a16:creationId xmlns:a16="http://schemas.microsoft.com/office/drawing/2014/main" id="{55AC5E88-54DB-DB07-2D2B-3EA3C0141922}"/>
              </a:ext>
            </a:extLst>
          </p:cNvPr>
          <p:cNvGrpSpPr/>
          <p:nvPr userDrawn="1"/>
        </p:nvGrpSpPr>
        <p:grpSpPr>
          <a:xfrm>
            <a:off x="0" y="0"/>
            <a:ext cx="12192000" cy="397164"/>
            <a:chOff x="421830" y="1342659"/>
            <a:chExt cx="10018760" cy="290558"/>
          </a:xfrm>
        </p:grpSpPr>
        <p:sp>
          <p:nvSpPr>
            <p:cNvPr id="20" name="Rectangle 19">
              <a:extLst>
                <a:ext uri="{FF2B5EF4-FFF2-40B4-BE49-F238E27FC236}">
                  <a16:creationId xmlns:a16="http://schemas.microsoft.com/office/drawing/2014/main" id="{7D421AC2-0BAA-41E8-5271-9D286A5CB1F7}"/>
                </a:ext>
              </a:extLst>
            </p:cNvPr>
            <p:cNvSpPr/>
            <p:nvPr userDrawn="1"/>
          </p:nvSpPr>
          <p:spPr>
            <a:xfrm>
              <a:off x="421831" y="1487938"/>
              <a:ext cx="2532791" cy="145279"/>
            </a:xfrm>
            <a:prstGeom prst="rect">
              <a:avLst/>
            </a:prstGeom>
            <a:solidFill>
              <a:srgbClr val="F2E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D31278D-990D-8DFD-00A2-BCCECAB47A5E}"/>
                </a:ext>
              </a:extLst>
            </p:cNvPr>
            <p:cNvSpPr/>
            <p:nvPr userDrawn="1"/>
          </p:nvSpPr>
          <p:spPr>
            <a:xfrm>
              <a:off x="2928836" y="1487938"/>
              <a:ext cx="2503918" cy="145279"/>
            </a:xfrm>
            <a:prstGeom prst="rect">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A348C4B-29F3-5E21-5DA6-F7A38594E57F}"/>
                </a:ext>
              </a:extLst>
            </p:cNvPr>
            <p:cNvSpPr/>
            <p:nvPr userDrawn="1"/>
          </p:nvSpPr>
          <p:spPr>
            <a:xfrm>
              <a:off x="5432754" y="1487938"/>
              <a:ext cx="2503918" cy="145279"/>
            </a:xfrm>
            <a:prstGeom prst="rect">
              <a:avLst/>
            </a:prstGeom>
            <a:solidFill>
              <a:srgbClr val="FE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C0FAD8C-7636-5833-CFCE-3253852F15EF}"/>
                </a:ext>
              </a:extLst>
            </p:cNvPr>
            <p:cNvSpPr/>
            <p:nvPr userDrawn="1"/>
          </p:nvSpPr>
          <p:spPr>
            <a:xfrm>
              <a:off x="7936672" y="1487938"/>
              <a:ext cx="2503918" cy="145279"/>
            </a:xfrm>
            <a:prstGeom prst="rect">
              <a:avLst/>
            </a:prstGeom>
            <a:solidFill>
              <a:srgbClr val="EBA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CC4306F-759D-AE82-8D13-D983855E47FC}"/>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350227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57225" y="4581236"/>
            <a:ext cx="10877550" cy="1597891"/>
          </a:xfrm>
          <a:noFill/>
        </p:spPr>
        <p:txBody>
          <a:bodyPr wrap="square" rtlCol="0" anchor="ctr" anchorCtr="1">
            <a:noAutofit/>
          </a:bodyPr>
          <a:lstStyle>
            <a:lvl1pPr algn="ctr">
              <a:defRPr lang="en-US" sz="1800" b="0" i="0" cap="none" baseline="0">
                <a:solidFill>
                  <a:schemeClr val="tx1"/>
                </a:solidFill>
                <a:latin typeface="Verdana" charset="0"/>
                <a:ea typeface="Verdana" charset="0"/>
                <a:cs typeface="Verdana" charset="0"/>
              </a:defRPr>
            </a:lvl1pPr>
          </a:lstStyle>
          <a:p>
            <a:pPr marL="0" lvl="0" algn="ctr">
              <a:lnSpc>
                <a:spcPct val="75000"/>
              </a:lnSpc>
            </a:pPr>
            <a:r>
              <a:rPr lang="en-US"/>
              <a:t>Click to edit master closing slide</a:t>
            </a:r>
          </a:p>
        </p:txBody>
      </p:sp>
      <p:sp>
        <p:nvSpPr>
          <p:cNvPr id="6" name="Date Placeholder 5"/>
          <p:cNvSpPr>
            <a:spLocks noGrp="1"/>
          </p:cNvSpPr>
          <p:nvPr>
            <p:ph type="dt" sz="half" idx="10"/>
          </p:nvPr>
        </p:nvSpPr>
        <p:spPr>
          <a:xfrm>
            <a:off x="10751004" y="6335309"/>
            <a:ext cx="1181114" cy="250337"/>
          </a:xfrm>
        </p:spPr>
        <p:txBody>
          <a:bodyPr/>
          <a:lstStyle/>
          <a:p>
            <a:fld id="{75D660D7-90CE-4513-A3CE-C070B9421917}" type="datetime1">
              <a:rPr lang="en-US" smtClean="0"/>
              <a:t>11/26/2025</a:t>
            </a:fld>
            <a:endParaRPr lang="en-US"/>
          </a:p>
        </p:txBody>
      </p:sp>
      <p:sp>
        <p:nvSpPr>
          <p:cNvPr id="10" name="Footer Placeholder 9"/>
          <p:cNvSpPr>
            <a:spLocks noGrp="1"/>
          </p:cNvSpPr>
          <p:nvPr>
            <p:ph type="ftr" sz="quarter" idx="11"/>
          </p:nvPr>
        </p:nvSpPr>
        <p:spPr/>
        <p:txBody>
          <a:bodyPr/>
          <a:lstStyle/>
          <a:p>
            <a:r>
              <a:rPr lang="en-US"/>
              <a:t>PRESENTATION TITLE</a:t>
            </a:r>
          </a:p>
        </p:txBody>
      </p:sp>
      <p:sp>
        <p:nvSpPr>
          <p:cNvPr id="11" name="Slide Number Placeholder 10"/>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19" name="Group 18">
            <a:extLst>
              <a:ext uri="{FF2B5EF4-FFF2-40B4-BE49-F238E27FC236}">
                <a16:creationId xmlns:a16="http://schemas.microsoft.com/office/drawing/2014/main" id="{9B2C18FC-29DC-30A0-0360-C5E5735072A4}"/>
              </a:ext>
            </a:extLst>
          </p:cNvPr>
          <p:cNvGrpSpPr/>
          <p:nvPr userDrawn="1"/>
        </p:nvGrpSpPr>
        <p:grpSpPr>
          <a:xfrm>
            <a:off x="0" y="0"/>
            <a:ext cx="12192000" cy="397164"/>
            <a:chOff x="421830" y="1342659"/>
            <a:chExt cx="10018760" cy="290558"/>
          </a:xfrm>
        </p:grpSpPr>
        <p:sp>
          <p:nvSpPr>
            <p:cNvPr id="20" name="Rectangle 19">
              <a:extLst>
                <a:ext uri="{FF2B5EF4-FFF2-40B4-BE49-F238E27FC236}">
                  <a16:creationId xmlns:a16="http://schemas.microsoft.com/office/drawing/2014/main" id="{36231277-A44F-A1F5-03E4-79BB667E118A}"/>
                </a:ext>
              </a:extLst>
            </p:cNvPr>
            <p:cNvSpPr/>
            <p:nvPr userDrawn="1"/>
          </p:nvSpPr>
          <p:spPr>
            <a:xfrm>
              <a:off x="421831" y="1487938"/>
              <a:ext cx="2532791" cy="145279"/>
            </a:xfrm>
            <a:prstGeom prst="rect">
              <a:avLst/>
            </a:prstGeom>
            <a:solidFill>
              <a:srgbClr val="F2E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269444E-AE08-770D-D564-E199EA1B706B}"/>
                </a:ext>
              </a:extLst>
            </p:cNvPr>
            <p:cNvSpPr/>
            <p:nvPr userDrawn="1"/>
          </p:nvSpPr>
          <p:spPr>
            <a:xfrm>
              <a:off x="2928836" y="1487938"/>
              <a:ext cx="2503918" cy="145279"/>
            </a:xfrm>
            <a:prstGeom prst="rect">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7691CF8-1E73-A801-14D7-6110247881EC}"/>
                </a:ext>
              </a:extLst>
            </p:cNvPr>
            <p:cNvSpPr/>
            <p:nvPr userDrawn="1"/>
          </p:nvSpPr>
          <p:spPr>
            <a:xfrm>
              <a:off x="5432754" y="1487938"/>
              <a:ext cx="2503918" cy="145279"/>
            </a:xfrm>
            <a:prstGeom prst="rect">
              <a:avLst/>
            </a:prstGeom>
            <a:solidFill>
              <a:srgbClr val="FE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1DC9D66-33DA-E6DF-D54B-2453FA7322A6}"/>
                </a:ext>
              </a:extLst>
            </p:cNvPr>
            <p:cNvSpPr/>
            <p:nvPr userDrawn="1"/>
          </p:nvSpPr>
          <p:spPr>
            <a:xfrm>
              <a:off x="7936672" y="1487938"/>
              <a:ext cx="2503918" cy="145279"/>
            </a:xfrm>
            <a:prstGeom prst="rect">
              <a:avLst/>
            </a:prstGeom>
            <a:solidFill>
              <a:srgbClr val="EBA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EBB1E0F-DE82-BF28-6F15-1C179C3FA41E}"/>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6" name="Picture 25" descr="University of Waterloo logo">
            <a:extLst>
              <a:ext uri="{FF2B5EF4-FFF2-40B4-BE49-F238E27FC236}">
                <a16:creationId xmlns:a16="http://schemas.microsoft.com/office/drawing/2014/main" id="{5604EBD5-7BE6-8BAD-C10F-F29FF1FC023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884945" y="1204402"/>
            <a:ext cx="6407315" cy="4157127"/>
          </a:xfrm>
          <a:prstGeom prst="rect">
            <a:avLst/>
          </a:prstGeom>
        </p:spPr>
      </p:pic>
    </p:spTree>
    <p:extLst>
      <p:ext uri="{BB962C8B-B14F-4D97-AF65-F5344CB8AC3E}">
        <p14:creationId xmlns:p14="http://schemas.microsoft.com/office/powerpoint/2010/main" val="32696773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ing Slide_AL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33425" y="4682836"/>
            <a:ext cx="10725150" cy="1559782"/>
          </a:xfrm>
          <a:noFill/>
        </p:spPr>
        <p:txBody>
          <a:bodyPr wrap="square" rtlCol="0" anchor="ctr" anchorCtr="1">
            <a:noAutofit/>
          </a:bodyPr>
          <a:lstStyle>
            <a:lvl1pPr marL="0" algn="ctr">
              <a:lnSpc>
                <a:spcPct val="75000"/>
              </a:lnSpc>
              <a:defRPr lang="en-US" sz="1800" b="0" i="0" cap="none" baseline="0">
                <a:solidFill>
                  <a:schemeClr val="bg1">
                    <a:alpha val="81000"/>
                  </a:schemeClr>
                </a:solidFill>
                <a:latin typeface="Verdana" charset="0"/>
                <a:ea typeface="Verdana" charset="0"/>
                <a:cs typeface="Verdana" charset="0"/>
              </a:defRPr>
            </a:lvl1pPr>
          </a:lstStyle>
          <a:p>
            <a:pPr marL="0" lvl="0" algn="ctr">
              <a:lnSpc>
                <a:spcPct val="75000"/>
              </a:lnSpc>
            </a:pPr>
            <a:r>
              <a:rPr lang="en-US"/>
              <a:t>Click to edit master closing slide</a:t>
            </a:r>
          </a:p>
        </p:txBody>
      </p:sp>
      <p:sp>
        <p:nvSpPr>
          <p:cNvPr id="6" name="Date Placeholder 5"/>
          <p:cNvSpPr>
            <a:spLocks noGrp="1"/>
          </p:cNvSpPr>
          <p:nvPr>
            <p:ph type="dt" sz="half" idx="10"/>
          </p:nvPr>
        </p:nvSpPr>
        <p:spPr>
          <a:xfrm>
            <a:off x="10751004" y="6335309"/>
            <a:ext cx="1181114" cy="250337"/>
          </a:xfrm>
        </p:spPr>
        <p:txBody>
          <a:bodyPr/>
          <a:lstStyle>
            <a:lvl1pPr>
              <a:defRPr>
                <a:solidFill>
                  <a:schemeClr val="bg1"/>
                </a:solidFill>
              </a:defRPr>
            </a:lvl1pPr>
          </a:lstStyle>
          <a:p>
            <a:fld id="{0A368D4B-3D0A-49AB-8EA2-2DC8CB4594DB}" type="datetime1">
              <a:rPr lang="en-US" smtClean="0"/>
              <a:pPr/>
              <a:t>11/26/2025</a:t>
            </a:fld>
            <a:endParaRPr lang="en-US"/>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a:t>PRESENTATION TITLE</a:t>
            </a:r>
            <a:endParaRPr lang="en-US">
              <a:solidFill>
                <a:schemeClr val="bg1"/>
              </a:solidFill>
            </a:endParaRPr>
          </a:p>
        </p:txBody>
      </p:sp>
      <p:sp>
        <p:nvSpPr>
          <p:cNvPr id="8" name="Slide Number Placeholder 7"/>
          <p:cNvSpPr>
            <a:spLocks noGrp="1"/>
          </p:cNvSpPr>
          <p:nvPr>
            <p:ph type="sldNum" sz="quarter" idx="12"/>
          </p:nvPr>
        </p:nvSpPr>
        <p:spPr/>
        <p:txBody>
          <a:bodyPr/>
          <a:lstStyle>
            <a:lvl1pPr>
              <a:defRPr>
                <a:solidFill>
                  <a:schemeClr val="bg1"/>
                </a:solidFill>
              </a:defRPr>
            </a:lvl1pPr>
          </a:lstStyle>
          <a:p>
            <a:r>
              <a:rPr lang="en-US"/>
              <a:t>PAGE  </a:t>
            </a:r>
            <a:fld id="{93005692-73BE-493E-93AB-ECD6027A7652}" type="slidenum">
              <a:rPr lang="en-US" smtClean="0"/>
              <a:pPr/>
              <a:t>‹#›</a:t>
            </a:fld>
            <a:endParaRPr lang="en-US"/>
          </a:p>
        </p:txBody>
      </p:sp>
      <p:grpSp>
        <p:nvGrpSpPr>
          <p:cNvPr id="3" name="Group 2">
            <a:extLst>
              <a:ext uri="{FF2B5EF4-FFF2-40B4-BE49-F238E27FC236}">
                <a16:creationId xmlns:a16="http://schemas.microsoft.com/office/drawing/2014/main" id="{A3C84CBA-BDD4-B9EC-8FD3-ECC1DF539F9E}"/>
              </a:ext>
            </a:extLst>
          </p:cNvPr>
          <p:cNvGrpSpPr/>
          <p:nvPr userDrawn="1"/>
        </p:nvGrpSpPr>
        <p:grpSpPr>
          <a:xfrm>
            <a:off x="0" y="0"/>
            <a:ext cx="12192000" cy="397164"/>
            <a:chOff x="421830" y="1342659"/>
            <a:chExt cx="10018760" cy="290558"/>
          </a:xfrm>
        </p:grpSpPr>
        <p:sp>
          <p:nvSpPr>
            <p:cNvPr id="4" name="Rectangle 3">
              <a:extLst>
                <a:ext uri="{FF2B5EF4-FFF2-40B4-BE49-F238E27FC236}">
                  <a16:creationId xmlns:a16="http://schemas.microsoft.com/office/drawing/2014/main" id="{EFE04DCE-1B6E-B5CB-9E62-E45B592AFB6A}"/>
                </a:ext>
              </a:extLst>
            </p:cNvPr>
            <p:cNvSpPr/>
            <p:nvPr userDrawn="1"/>
          </p:nvSpPr>
          <p:spPr>
            <a:xfrm>
              <a:off x="421831" y="1487938"/>
              <a:ext cx="2532791" cy="145279"/>
            </a:xfrm>
            <a:prstGeom prst="rect">
              <a:avLst/>
            </a:prstGeom>
            <a:solidFill>
              <a:srgbClr val="F2E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8AF4A26-5CAE-1F08-C93F-B41E8E5BB1DB}"/>
                </a:ext>
              </a:extLst>
            </p:cNvPr>
            <p:cNvSpPr/>
            <p:nvPr userDrawn="1"/>
          </p:nvSpPr>
          <p:spPr>
            <a:xfrm>
              <a:off x="2928836" y="1487938"/>
              <a:ext cx="2503918" cy="145279"/>
            </a:xfrm>
            <a:prstGeom prst="rect">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1623493-CA34-79CF-0A7F-DF7FA3107102}"/>
                </a:ext>
              </a:extLst>
            </p:cNvPr>
            <p:cNvSpPr/>
            <p:nvPr userDrawn="1"/>
          </p:nvSpPr>
          <p:spPr>
            <a:xfrm>
              <a:off x="5432754" y="1487938"/>
              <a:ext cx="2503918" cy="145279"/>
            </a:xfrm>
            <a:prstGeom prst="rect">
              <a:avLst/>
            </a:prstGeom>
            <a:solidFill>
              <a:srgbClr val="FE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BFBED65-B55C-005E-0B76-59B6F1DB7BD0}"/>
                </a:ext>
              </a:extLst>
            </p:cNvPr>
            <p:cNvSpPr/>
            <p:nvPr userDrawn="1"/>
          </p:nvSpPr>
          <p:spPr>
            <a:xfrm>
              <a:off x="7936672" y="1487938"/>
              <a:ext cx="2503918" cy="145279"/>
            </a:xfrm>
            <a:prstGeom prst="rect">
              <a:avLst/>
            </a:prstGeom>
            <a:solidFill>
              <a:srgbClr val="EBA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F170495-1DE0-AF98-003E-5B61D768B50C}"/>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9" name="Picture 18" descr="University of Waterloo logo">
            <a:extLst>
              <a:ext uri="{FF2B5EF4-FFF2-40B4-BE49-F238E27FC236}">
                <a16:creationId xmlns:a16="http://schemas.microsoft.com/office/drawing/2014/main" id="{086A222B-79FE-32D2-AF56-76C91A4EBDD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884945" y="1204402"/>
            <a:ext cx="6407315" cy="4157126"/>
          </a:xfrm>
          <a:prstGeom prst="rect">
            <a:avLst/>
          </a:prstGeom>
        </p:spPr>
      </p:pic>
    </p:spTree>
    <p:extLst>
      <p:ext uri="{BB962C8B-B14F-4D97-AF65-F5344CB8AC3E}">
        <p14:creationId xmlns:p14="http://schemas.microsoft.com/office/powerpoint/2010/main" val="37220828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losing Slide_Y+W">
    <p:spTree>
      <p:nvGrpSpPr>
        <p:cNvPr id="1" name=""/>
        <p:cNvGrpSpPr/>
        <p:nvPr/>
      </p:nvGrpSpPr>
      <p:grpSpPr>
        <a:xfrm>
          <a:off x="0" y="0"/>
          <a:ext cx="0" cy="0"/>
          <a:chOff x="0" y="0"/>
          <a:chExt cx="0" cy="0"/>
        </a:xfrm>
      </p:grpSpPr>
      <p:pic>
        <p:nvPicPr>
          <p:cNvPr id="23" name="Picture 22" descr="YOU+WATERLOO">
            <a:extLst>
              <a:ext uri="{FF2B5EF4-FFF2-40B4-BE49-F238E27FC236}">
                <a16:creationId xmlns:a16="http://schemas.microsoft.com/office/drawing/2014/main" id="{28F653FE-3A86-E844-A53F-0361E59D706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153660" y="4585014"/>
            <a:ext cx="1884680" cy="533400"/>
          </a:xfrm>
          <a:prstGeom prst="rect">
            <a:avLst/>
          </a:prstGeom>
        </p:spPr>
      </p:pic>
      <p:pic>
        <p:nvPicPr>
          <p:cNvPr id="24" name="Picture 23">
            <a:extLst>
              <a:ext uri="{FF2B5EF4-FFF2-40B4-BE49-F238E27FC236}">
                <a16:creationId xmlns:a16="http://schemas.microsoft.com/office/drawing/2014/main" id="{48ADE716-1136-A547-A8CE-EAC2B309AAB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168648" y="5270227"/>
            <a:ext cx="3854704" cy="252476"/>
          </a:xfrm>
          <a:prstGeom prst="rect">
            <a:avLst/>
          </a:prstGeom>
        </p:spPr>
      </p:pic>
      <p:sp>
        <p:nvSpPr>
          <p:cNvPr id="6" name="Date Placeholder 5"/>
          <p:cNvSpPr>
            <a:spLocks noGrp="1"/>
          </p:cNvSpPr>
          <p:nvPr>
            <p:ph type="dt" sz="half" idx="10"/>
          </p:nvPr>
        </p:nvSpPr>
        <p:spPr>
          <a:xfrm>
            <a:off x="10751004" y="6335309"/>
            <a:ext cx="1181114" cy="250337"/>
          </a:xfrm>
        </p:spPr>
        <p:txBody>
          <a:bodyPr/>
          <a:lstStyle/>
          <a:p>
            <a:fld id="{75D660D7-90CE-4513-A3CE-C070B9421917}" type="datetime1">
              <a:rPr lang="en-US" smtClean="0"/>
              <a:t>11/26/2025</a:t>
            </a:fld>
            <a:endParaRPr lang="en-US"/>
          </a:p>
        </p:txBody>
      </p:sp>
      <p:sp>
        <p:nvSpPr>
          <p:cNvPr id="10" name="Footer Placeholder 9"/>
          <p:cNvSpPr>
            <a:spLocks noGrp="1"/>
          </p:cNvSpPr>
          <p:nvPr>
            <p:ph type="ftr" sz="quarter" idx="11"/>
          </p:nvPr>
        </p:nvSpPr>
        <p:spPr/>
        <p:txBody>
          <a:bodyPr/>
          <a:lstStyle/>
          <a:p>
            <a:r>
              <a:rPr lang="en-US"/>
              <a:t>PRESENTATION TITLE</a:t>
            </a:r>
          </a:p>
        </p:txBody>
      </p:sp>
      <p:sp>
        <p:nvSpPr>
          <p:cNvPr id="11" name="Slide Number Placeholder 10"/>
          <p:cNvSpPr>
            <a:spLocks noGrp="1"/>
          </p:cNvSpPr>
          <p:nvPr>
            <p:ph type="sldNum" sz="quarter" idx="12"/>
          </p:nvPr>
        </p:nvSpPr>
        <p:spPr/>
        <p:txBody>
          <a:bodyPr/>
          <a:lstStyle/>
          <a:p>
            <a:r>
              <a:rPr lang="en-US"/>
              <a:t>PAGE  </a:t>
            </a:r>
            <a:fld id="{93005692-73BE-493E-93AB-ECD6027A7652}" type="slidenum">
              <a:rPr lang="en-US" smtClean="0"/>
              <a:pPr/>
              <a:t>‹#›</a:t>
            </a:fld>
            <a:endParaRPr lang="en-US"/>
          </a:p>
        </p:txBody>
      </p:sp>
      <p:grpSp>
        <p:nvGrpSpPr>
          <p:cNvPr id="2" name="Group 1">
            <a:extLst>
              <a:ext uri="{FF2B5EF4-FFF2-40B4-BE49-F238E27FC236}">
                <a16:creationId xmlns:a16="http://schemas.microsoft.com/office/drawing/2014/main" id="{6691E8C1-028B-B8F4-4256-E3712FED0E55}"/>
              </a:ext>
            </a:extLst>
          </p:cNvPr>
          <p:cNvGrpSpPr/>
          <p:nvPr userDrawn="1"/>
        </p:nvGrpSpPr>
        <p:grpSpPr>
          <a:xfrm>
            <a:off x="0" y="0"/>
            <a:ext cx="12192000" cy="397164"/>
            <a:chOff x="421830" y="1342659"/>
            <a:chExt cx="10018760" cy="290558"/>
          </a:xfrm>
        </p:grpSpPr>
        <p:sp>
          <p:nvSpPr>
            <p:cNvPr id="3" name="Rectangle 2">
              <a:extLst>
                <a:ext uri="{FF2B5EF4-FFF2-40B4-BE49-F238E27FC236}">
                  <a16:creationId xmlns:a16="http://schemas.microsoft.com/office/drawing/2014/main" id="{853E403A-BC35-D5C8-A61A-6A21441F2A47}"/>
                </a:ext>
              </a:extLst>
            </p:cNvPr>
            <p:cNvSpPr/>
            <p:nvPr userDrawn="1"/>
          </p:nvSpPr>
          <p:spPr>
            <a:xfrm>
              <a:off x="421831" y="1487938"/>
              <a:ext cx="2532791" cy="145279"/>
            </a:xfrm>
            <a:prstGeom prst="rect">
              <a:avLst/>
            </a:prstGeom>
            <a:solidFill>
              <a:srgbClr val="F2E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0BBAAB5-DC1C-86EB-4372-7AA35FAC264E}"/>
                </a:ext>
              </a:extLst>
            </p:cNvPr>
            <p:cNvSpPr/>
            <p:nvPr userDrawn="1"/>
          </p:nvSpPr>
          <p:spPr>
            <a:xfrm>
              <a:off x="2928836" y="1487938"/>
              <a:ext cx="2503918" cy="145279"/>
            </a:xfrm>
            <a:prstGeom prst="rect">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06E0FE3-0020-4B30-798D-E8A1A63EEAD4}"/>
                </a:ext>
              </a:extLst>
            </p:cNvPr>
            <p:cNvSpPr/>
            <p:nvPr userDrawn="1"/>
          </p:nvSpPr>
          <p:spPr>
            <a:xfrm>
              <a:off x="5432754" y="1487938"/>
              <a:ext cx="2503918" cy="145279"/>
            </a:xfrm>
            <a:prstGeom prst="rect">
              <a:avLst/>
            </a:prstGeom>
            <a:solidFill>
              <a:srgbClr val="FE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F32F16E-6FB3-59D9-5ABB-055FA23EB8BF}"/>
                </a:ext>
              </a:extLst>
            </p:cNvPr>
            <p:cNvSpPr/>
            <p:nvPr userDrawn="1"/>
          </p:nvSpPr>
          <p:spPr>
            <a:xfrm>
              <a:off x="7936672" y="1487938"/>
              <a:ext cx="2503918" cy="145279"/>
            </a:xfrm>
            <a:prstGeom prst="rect">
              <a:avLst/>
            </a:prstGeom>
            <a:solidFill>
              <a:srgbClr val="EBA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4B425B3-553E-0171-4C59-CD7445926E13}"/>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Picture 16" descr="University of Waterloo logo">
            <a:extLst>
              <a:ext uri="{FF2B5EF4-FFF2-40B4-BE49-F238E27FC236}">
                <a16:creationId xmlns:a16="http://schemas.microsoft.com/office/drawing/2014/main" id="{0E8EB7D6-3776-0C1B-E0DD-A6CD3262A46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3225667" y="895553"/>
            <a:ext cx="5757267" cy="3735370"/>
          </a:xfrm>
          <a:prstGeom prst="rect">
            <a:avLst/>
          </a:prstGeom>
        </p:spPr>
      </p:pic>
    </p:spTree>
    <p:extLst>
      <p:ext uri="{BB962C8B-B14F-4D97-AF65-F5344CB8AC3E}">
        <p14:creationId xmlns:p14="http://schemas.microsoft.com/office/powerpoint/2010/main" val="5089554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Closing Slide_Y+W_ALT">
    <p:bg>
      <p:bgPr>
        <a:solidFill>
          <a:schemeClr val="tx1"/>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0"/>
          </p:nvPr>
        </p:nvSpPr>
        <p:spPr>
          <a:xfrm>
            <a:off x="10751004" y="6335309"/>
            <a:ext cx="1181114" cy="250337"/>
          </a:xfrm>
        </p:spPr>
        <p:txBody>
          <a:bodyPr/>
          <a:lstStyle>
            <a:lvl1pPr>
              <a:defRPr>
                <a:solidFill>
                  <a:schemeClr val="bg1"/>
                </a:solidFill>
              </a:defRPr>
            </a:lvl1pPr>
          </a:lstStyle>
          <a:p>
            <a:fld id="{0A368D4B-3D0A-49AB-8EA2-2DC8CB4594DB}" type="datetime1">
              <a:rPr lang="en-US" smtClean="0"/>
              <a:pPr/>
              <a:t>11/26/2025</a:t>
            </a:fld>
            <a:endParaRPr lang="en-US"/>
          </a:p>
        </p:txBody>
      </p:sp>
      <p:sp>
        <p:nvSpPr>
          <p:cNvPr id="7" name="Footer Placeholder 6"/>
          <p:cNvSpPr>
            <a:spLocks noGrp="1"/>
          </p:cNvSpPr>
          <p:nvPr>
            <p:ph type="ftr" sz="quarter" idx="11"/>
          </p:nvPr>
        </p:nvSpPr>
        <p:spPr/>
        <p:txBody>
          <a:bodyPr/>
          <a:lstStyle>
            <a:lvl1pPr>
              <a:defRPr>
                <a:solidFill>
                  <a:schemeClr val="bg1"/>
                </a:solidFill>
              </a:defRPr>
            </a:lvl1pPr>
          </a:lstStyle>
          <a:p>
            <a:r>
              <a:rPr lang="en-US"/>
              <a:t>PRESENTATION TITLE</a:t>
            </a:r>
            <a:endParaRPr lang="en-US">
              <a:solidFill>
                <a:schemeClr val="bg1"/>
              </a:solidFill>
            </a:endParaRPr>
          </a:p>
        </p:txBody>
      </p:sp>
      <p:sp>
        <p:nvSpPr>
          <p:cNvPr id="8" name="Slide Number Placeholder 7"/>
          <p:cNvSpPr>
            <a:spLocks noGrp="1"/>
          </p:cNvSpPr>
          <p:nvPr>
            <p:ph type="sldNum" sz="quarter" idx="12"/>
          </p:nvPr>
        </p:nvSpPr>
        <p:spPr/>
        <p:txBody>
          <a:bodyPr/>
          <a:lstStyle>
            <a:lvl1pPr>
              <a:defRPr>
                <a:solidFill>
                  <a:schemeClr val="bg1"/>
                </a:solidFill>
              </a:defRPr>
            </a:lvl1pPr>
          </a:lstStyle>
          <a:p>
            <a:r>
              <a:rPr lang="en-US"/>
              <a:t>PAGE  </a:t>
            </a:r>
            <a:fld id="{93005692-73BE-493E-93AB-ECD6027A7652}" type="slidenum">
              <a:rPr lang="en-US" smtClean="0"/>
              <a:pPr/>
              <a:t>‹#›</a:t>
            </a:fld>
            <a:endParaRPr lang="en-US"/>
          </a:p>
        </p:txBody>
      </p:sp>
      <p:pic>
        <p:nvPicPr>
          <p:cNvPr id="21" name="Picture 20" descr="YOU+WATERLOO">
            <a:extLst>
              <a:ext uri="{FF2B5EF4-FFF2-40B4-BE49-F238E27FC236}">
                <a16:creationId xmlns:a16="http://schemas.microsoft.com/office/drawing/2014/main" id="{61B2F895-74F6-5245-9741-0020E25D8A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53660" y="4592032"/>
            <a:ext cx="1884680" cy="533400"/>
          </a:xfrm>
          <a:prstGeom prst="rect">
            <a:avLst/>
          </a:prstGeom>
        </p:spPr>
      </p:pic>
      <p:pic>
        <p:nvPicPr>
          <p:cNvPr id="22" name="Picture 21">
            <a:extLst>
              <a:ext uri="{FF2B5EF4-FFF2-40B4-BE49-F238E27FC236}">
                <a16:creationId xmlns:a16="http://schemas.microsoft.com/office/drawing/2014/main" id="{1D46E8A0-B6BB-1D40-8410-044E5B20399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168648" y="5277245"/>
            <a:ext cx="3854704" cy="252476"/>
          </a:xfrm>
          <a:prstGeom prst="rect">
            <a:avLst/>
          </a:prstGeom>
        </p:spPr>
      </p:pic>
      <p:sp>
        <p:nvSpPr>
          <p:cNvPr id="3" name="TextBox 2">
            <a:extLst>
              <a:ext uri="{FF2B5EF4-FFF2-40B4-BE49-F238E27FC236}">
                <a16:creationId xmlns:a16="http://schemas.microsoft.com/office/drawing/2014/main" id="{D4747904-A0FC-F14A-9236-E3A1ADBB8DEF}"/>
              </a:ext>
            </a:extLst>
          </p:cNvPr>
          <p:cNvSpPr txBox="1"/>
          <p:nvPr userDrawn="1"/>
        </p:nvSpPr>
        <p:spPr>
          <a:xfrm>
            <a:off x="4851400" y="7247467"/>
            <a:ext cx="184731" cy="369332"/>
          </a:xfrm>
          <a:prstGeom prst="rect">
            <a:avLst/>
          </a:prstGeom>
          <a:noFill/>
        </p:spPr>
        <p:txBody>
          <a:bodyPr wrap="none" rtlCol="0">
            <a:spAutoFit/>
          </a:bodyPr>
          <a:lstStyle/>
          <a:p>
            <a:endParaRPr lang="en-US"/>
          </a:p>
        </p:txBody>
      </p:sp>
      <p:grpSp>
        <p:nvGrpSpPr>
          <p:cNvPr id="2" name="Group 1">
            <a:extLst>
              <a:ext uri="{FF2B5EF4-FFF2-40B4-BE49-F238E27FC236}">
                <a16:creationId xmlns:a16="http://schemas.microsoft.com/office/drawing/2014/main" id="{3D286E6D-0D71-65B9-5A2A-13BC64D090E5}"/>
              </a:ext>
            </a:extLst>
          </p:cNvPr>
          <p:cNvGrpSpPr/>
          <p:nvPr userDrawn="1"/>
        </p:nvGrpSpPr>
        <p:grpSpPr>
          <a:xfrm>
            <a:off x="0" y="0"/>
            <a:ext cx="12192000" cy="397164"/>
            <a:chOff x="421830" y="1342659"/>
            <a:chExt cx="10018760" cy="290558"/>
          </a:xfrm>
        </p:grpSpPr>
        <p:sp>
          <p:nvSpPr>
            <p:cNvPr id="4" name="Rectangle 3">
              <a:extLst>
                <a:ext uri="{FF2B5EF4-FFF2-40B4-BE49-F238E27FC236}">
                  <a16:creationId xmlns:a16="http://schemas.microsoft.com/office/drawing/2014/main" id="{094DCB05-C5B2-F917-DEBD-1ADFF9EF49FB}"/>
                </a:ext>
              </a:extLst>
            </p:cNvPr>
            <p:cNvSpPr/>
            <p:nvPr userDrawn="1"/>
          </p:nvSpPr>
          <p:spPr>
            <a:xfrm>
              <a:off x="421831" y="1487938"/>
              <a:ext cx="2532791" cy="145279"/>
            </a:xfrm>
            <a:prstGeom prst="rect">
              <a:avLst/>
            </a:prstGeom>
            <a:solidFill>
              <a:srgbClr val="F2E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EC16BE5-37EB-7BF9-91C1-1DD99FB6DF48}"/>
                </a:ext>
              </a:extLst>
            </p:cNvPr>
            <p:cNvSpPr/>
            <p:nvPr userDrawn="1"/>
          </p:nvSpPr>
          <p:spPr>
            <a:xfrm>
              <a:off x="2928836" y="1487938"/>
              <a:ext cx="2503918" cy="145279"/>
            </a:xfrm>
            <a:prstGeom prst="rect">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643753E-1D6D-DAC7-EEB3-784F18B6ACE7}"/>
                </a:ext>
              </a:extLst>
            </p:cNvPr>
            <p:cNvSpPr/>
            <p:nvPr userDrawn="1"/>
          </p:nvSpPr>
          <p:spPr>
            <a:xfrm>
              <a:off x="5432754" y="1487938"/>
              <a:ext cx="2503918" cy="145279"/>
            </a:xfrm>
            <a:prstGeom prst="rect">
              <a:avLst/>
            </a:prstGeom>
            <a:solidFill>
              <a:srgbClr val="FE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5A03DC8-13E8-7109-1E6E-7D037DB2C7A0}"/>
                </a:ext>
              </a:extLst>
            </p:cNvPr>
            <p:cNvSpPr/>
            <p:nvPr userDrawn="1"/>
          </p:nvSpPr>
          <p:spPr>
            <a:xfrm>
              <a:off x="7936672" y="1487938"/>
              <a:ext cx="2503918" cy="145279"/>
            </a:xfrm>
            <a:prstGeom prst="rect">
              <a:avLst/>
            </a:prstGeom>
            <a:solidFill>
              <a:srgbClr val="EBA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87BAEF-5621-E3DD-3CE7-8D8AEF27527F}"/>
                </a:ext>
              </a:extLst>
            </p:cNvPr>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9" name="Picture 18" descr="University of Waterloo logo">
            <a:extLst>
              <a:ext uri="{FF2B5EF4-FFF2-40B4-BE49-F238E27FC236}">
                <a16:creationId xmlns:a16="http://schemas.microsoft.com/office/drawing/2014/main" id="{468B2007-5BEA-A5A1-19B5-A9DE3EF8F41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3225666" y="895553"/>
            <a:ext cx="5757269" cy="3735370"/>
          </a:xfrm>
          <a:prstGeom prst="rect">
            <a:avLst/>
          </a:prstGeom>
        </p:spPr>
      </p:pic>
    </p:spTree>
    <p:extLst>
      <p:ext uri="{BB962C8B-B14F-4D97-AF65-F5344CB8AC3E}">
        <p14:creationId xmlns:p14="http://schemas.microsoft.com/office/powerpoint/2010/main" val="29142556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9883" y="434108"/>
            <a:ext cx="11569729" cy="89592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9882" y="1413163"/>
            <a:ext cx="11569729" cy="45951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538014" y="6335309"/>
            <a:ext cx="1181114" cy="250337"/>
          </a:xfrm>
          <a:prstGeom prst="rect">
            <a:avLst/>
          </a:prstGeom>
        </p:spPr>
        <p:txBody>
          <a:bodyPr vert="horz" lIns="91440" tIns="45720" rIns="91440" bIns="45720" rtlCol="0" anchor="ctr"/>
          <a:lstStyle>
            <a:lvl1pPr algn="ctr">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5FDFC970-B950-4395-A833-47227D4A68CA}" type="datetime1">
              <a:rPr lang="en-US" smtClean="0"/>
              <a:t>11/26/2025</a:t>
            </a:fld>
            <a:endParaRPr lang="en-US"/>
          </a:p>
        </p:txBody>
      </p:sp>
      <p:sp>
        <p:nvSpPr>
          <p:cNvPr id="5" name="Footer Placeholder 4"/>
          <p:cNvSpPr>
            <a:spLocks noGrp="1"/>
          </p:cNvSpPr>
          <p:nvPr>
            <p:ph type="ftr" sz="quarter" idx="3"/>
          </p:nvPr>
        </p:nvSpPr>
        <p:spPr>
          <a:xfrm>
            <a:off x="259882" y="6335309"/>
            <a:ext cx="5226517" cy="250337"/>
          </a:xfrm>
          <a:prstGeom prst="rect">
            <a:avLst/>
          </a:prstGeom>
        </p:spPr>
        <p:txBody>
          <a:bodyPr vert="horz" lIns="91440" tIns="45720" rIns="91440" bIns="45720" rtlCol="0" anchor="ctr"/>
          <a:lstStyle>
            <a:lvl1pPr algn="l">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PRESENTATION TITLE</a:t>
            </a:r>
          </a:p>
        </p:txBody>
      </p:sp>
      <p:sp>
        <p:nvSpPr>
          <p:cNvPr id="6" name="Slide Number Placeholder 5"/>
          <p:cNvSpPr>
            <a:spLocks noGrp="1"/>
          </p:cNvSpPr>
          <p:nvPr>
            <p:ph type="sldNum" sz="quarter" idx="4"/>
          </p:nvPr>
        </p:nvSpPr>
        <p:spPr>
          <a:xfrm>
            <a:off x="5588000" y="6335309"/>
            <a:ext cx="1016000" cy="250337"/>
          </a:xfrm>
          <a:prstGeom prst="rect">
            <a:avLst/>
          </a:prstGeom>
        </p:spPr>
        <p:txBody>
          <a:bodyPr vert="horz" lIns="91440" tIns="45720" rIns="91440" bIns="45720" rtlCol="0" anchor="ctr"/>
          <a:lstStyle>
            <a:lvl1pPr algn="ctr">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PAGE  </a:t>
            </a:r>
            <a:fld id="{93005692-73BE-493E-93AB-ECD6027A7652}" type="slidenum">
              <a:rPr lang="en-US" smtClean="0"/>
              <a:pPr/>
              <a:t>‹#›</a:t>
            </a:fld>
            <a:endParaRPr lang="en-US"/>
          </a:p>
        </p:txBody>
      </p:sp>
      <p:grpSp>
        <p:nvGrpSpPr>
          <p:cNvPr id="15" name="Group 14"/>
          <p:cNvGrpSpPr/>
          <p:nvPr userDrawn="1"/>
        </p:nvGrpSpPr>
        <p:grpSpPr>
          <a:xfrm>
            <a:off x="0" y="0"/>
            <a:ext cx="12192000" cy="397164"/>
            <a:chOff x="421830" y="1342659"/>
            <a:chExt cx="10018760" cy="290558"/>
          </a:xfrm>
        </p:grpSpPr>
        <p:sp>
          <p:nvSpPr>
            <p:cNvPr id="16" name="Rectangle 15"/>
            <p:cNvSpPr/>
            <p:nvPr userDrawn="1"/>
          </p:nvSpPr>
          <p:spPr>
            <a:xfrm>
              <a:off x="421831" y="1487938"/>
              <a:ext cx="2532791" cy="145279"/>
            </a:xfrm>
            <a:prstGeom prst="rect">
              <a:avLst/>
            </a:prstGeom>
            <a:solidFill>
              <a:srgbClr val="F2E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2928836" y="1487938"/>
              <a:ext cx="2503918" cy="145279"/>
            </a:xfrm>
            <a:prstGeom prst="rect">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5432754" y="1487938"/>
              <a:ext cx="2503918" cy="145279"/>
            </a:xfrm>
            <a:prstGeom prst="rect">
              <a:avLst/>
            </a:prstGeom>
            <a:solidFill>
              <a:srgbClr val="FED3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7936672" y="1487938"/>
              <a:ext cx="2503918" cy="145279"/>
            </a:xfrm>
            <a:prstGeom prst="rect">
              <a:avLst/>
            </a:prstGeom>
            <a:solidFill>
              <a:srgbClr val="EBA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Picture 8" descr="University of Waterloo logo">
            <a:extLst>
              <a:ext uri="{FF2B5EF4-FFF2-40B4-BE49-F238E27FC236}">
                <a16:creationId xmlns:a16="http://schemas.microsoft.com/office/drawing/2014/main" id="{5AE93192-E6E4-EBD3-E1EB-1CA76925B880}"/>
              </a:ext>
            </a:extLst>
          </p:cNvPr>
          <p:cNvPicPr>
            <a:picLocks noChangeAspect="1"/>
          </p:cNvPicPr>
          <p:nvPr userDrawn="1"/>
        </p:nvPicPr>
        <p:blipFill>
          <a:blip r:embed="rId24" cstate="hqprint">
            <a:extLst>
              <a:ext uri="{28A0092B-C50C-407E-A947-70E740481C1C}">
                <a14:useLocalDpi xmlns:a14="http://schemas.microsoft.com/office/drawing/2010/main" val="0"/>
              </a:ext>
            </a:extLst>
          </a:blip>
          <a:stretch>
            <a:fillRect/>
          </a:stretch>
        </p:blipFill>
        <p:spPr>
          <a:xfrm>
            <a:off x="9442767" y="5868697"/>
            <a:ext cx="2749233" cy="1085512"/>
          </a:xfrm>
          <a:prstGeom prst="rect">
            <a:avLst/>
          </a:prstGeom>
        </p:spPr>
      </p:pic>
    </p:spTree>
    <p:extLst>
      <p:ext uri="{BB962C8B-B14F-4D97-AF65-F5344CB8AC3E}">
        <p14:creationId xmlns:p14="http://schemas.microsoft.com/office/powerpoint/2010/main" val="973700157"/>
      </p:ext>
    </p:extLst>
  </p:cSld>
  <p:clrMap bg1="lt1" tx1="dk1" bg2="lt2" tx2="dk2" accent1="accent1" accent2="accent2" accent3="accent3" accent4="accent4" accent5="accent5" accent6="accent6" hlink="hlink" folHlink="folHlink"/>
  <p:sldLayoutIdLst>
    <p:sldLayoutId id="2147483669" r:id="rId1"/>
    <p:sldLayoutId id="2147483714" r:id="rId2"/>
    <p:sldLayoutId id="2147483715" r:id="rId3"/>
    <p:sldLayoutId id="2147483716" r:id="rId4"/>
    <p:sldLayoutId id="2147483670" r:id="rId5"/>
    <p:sldLayoutId id="2147483693" r:id="rId6"/>
    <p:sldLayoutId id="2147483671" r:id="rId7"/>
    <p:sldLayoutId id="2147483690" r:id="rId8"/>
    <p:sldLayoutId id="2147483672" r:id="rId9"/>
    <p:sldLayoutId id="2147483673" r:id="rId10"/>
    <p:sldLayoutId id="2147483674" r:id="rId11"/>
    <p:sldLayoutId id="2147483675" r:id="rId12"/>
    <p:sldLayoutId id="2147483710" r:id="rId13"/>
    <p:sldLayoutId id="2147483717" r:id="rId14"/>
    <p:sldLayoutId id="2147483718" r:id="rId15"/>
    <p:sldLayoutId id="2147483719" r:id="rId16"/>
    <p:sldLayoutId id="2147483720" r:id="rId17"/>
    <p:sldLayoutId id="2147483721" r:id="rId18"/>
    <p:sldLayoutId id="2147483712" r:id="rId19"/>
    <p:sldLayoutId id="2147483713" r:id="rId20"/>
    <p:sldLayoutId id="2147483723" r:id="rId21"/>
    <p:sldLayoutId id="2147483722" r:id="rId22"/>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dt="0"/>
  <p:txStyles>
    <p:titleStyle>
      <a:lvl1pPr algn="l" defTabSz="914400" rtl="0" eaLnBrk="1" latinLnBrk="0" hangingPunct="1">
        <a:lnSpc>
          <a:spcPct val="85000"/>
        </a:lnSpc>
        <a:spcBef>
          <a:spcPct val="0"/>
        </a:spcBef>
        <a:buNone/>
        <a:defRPr sz="4000" b="1" kern="1200" spc="50" baseline="0">
          <a:solidFill>
            <a:schemeClr val="tx1"/>
          </a:solidFill>
          <a:latin typeface="+mj-lt"/>
          <a:ea typeface="+mj-ea"/>
          <a:cs typeface="+mj-cs"/>
        </a:defRPr>
      </a:lvl1pPr>
    </p:titleStyle>
    <p:bodyStyle>
      <a:lvl1pPr marL="288925" indent="-288925" algn="l" defTabSz="914400"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jpe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9.xml"/><Relationship Id="rId5" Type="http://schemas.openxmlformats.org/officeDocument/2006/relationships/image" Target="../media/image1.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Gender Gap in Self-Promotion</a:t>
            </a:r>
          </a:p>
        </p:txBody>
      </p:sp>
      <p:sp>
        <p:nvSpPr>
          <p:cNvPr id="3" name="Subtitle 2"/>
          <p:cNvSpPr>
            <a:spLocks noGrp="1"/>
          </p:cNvSpPr>
          <p:nvPr>
            <p:ph type="subTitle" idx="1"/>
          </p:nvPr>
        </p:nvSpPr>
        <p:spPr>
          <a:xfrm>
            <a:off x="452740" y="4266820"/>
            <a:ext cx="5486243" cy="1187495"/>
          </a:xfrm>
        </p:spPr>
        <p:txBody>
          <a:bodyPr>
            <a:noAutofit/>
          </a:bodyPr>
          <a:lstStyle/>
          <a:p>
            <a:r>
              <a:rPr lang="en-US"/>
              <a:t>Group 9 - Quantitative Data Analysis, MSE 609</a:t>
            </a:r>
          </a:p>
          <a:p>
            <a:r>
              <a:rPr lang="en-US"/>
              <a:t>Aria Zhou, </a:t>
            </a:r>
            <a:r>
              <a:rPr lang="en-CA"/>
              <a:t>Jayachithra Thamizhmani, Srikirthi Srihari, </a:t>
            </a:r>
            <a:r>
              <a:rPr lang="en-US"/>
              <a:t>Sri Sangeetha Sivashanmugam, Xiaohui Li</a:t>
            </a:r>
            <a:br>
              <a:rPr lang="en-US"/>
            </a:br>
            <a:endParaRPr lang="en-US"/>
          </a:p>
          <a:p>
            <a:br>
              <a:rPr lang="en-US"/>
            </a:br>
            <a:endParaRPr lang="en-US"/>
          </a:p>
          <a:p>
            <a:endParaRPr lang="en-US"/>
          </a:p>
        </p:txBody>
      </p:sp>
      <p:sp>
        <p:nvSpPr>
          <p:cNvPr id="10" name="Date Placeholder 9"/>
          <p:cNvSpPr>
            <a:spLocks noGrp="1"/>
          </p:cNvSpPr>
          <p:nvPr>
            <p:ph type="dt" sz="half" idx="10"/>
          </p:nvPr>
        </p:nvSpPr>
        <p:spPr>
          <a:solidFill>
            <a:srgbClr val="FED34C"/>
          </a:solidFill>
        </p:spPr>
        <p:txBody>
          <a:bodyPr/>
          <a:lstStyle/>
          <a:p>
            <a:r>
              <a:rPr lang="en-US"/>
              <a:t>11/26/2025</a:t>
            </a:r>
          </a:p>
        </p:txBody>
      </p:sp>
    </p:spTree>
    <p:extLst>
      <p:ext uri="{BB962C8B-B14F-4D97-AF65-F5344CB8AC3E}">
        <p14:creationId xmlns:p14="http://schemas.microsoft.com/office/powerpoint/2010/main" val="1148636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a:t>
            </a:r>
          </a:p>
        </p:txBody>
      </p:sp>
      <p:sp>
        <p:nvSpPr>
          <p:cNvPr id="3" name="Content Placeholder 2"/>
          <p:cNvSpPr>
            <a:spLocks noGrp="1"/>
          </p:cNvSpPr>
          <p:nvPr>
            <p:ph idx="1"/>
          </p:nvPr>
        </p:nvSpPr>
        <p:spPr/>
        <p:txBody>
          <a:bodyPr vert="horz" lIns="91440" tIns="45720" rIns="91440" bIns="45720" rtlCol="0" anchor="t">
            <a:normAutofit fontScale="92500" lnSpcReduction="10000"/>
          </a:bodyPr>
          <a:lstStyle/>
          <a:p>
            <a:pPr marL="0" indent="0">
              <a:buNone/>
            </a:pPr>
            <a:r>
              <a:rPr lang="en-US" sz="1600" b="1"/>
              <a:t>Introduction</a:t>
            </a:r>
          </a:p>
          <a:p>
            <a:pPr lvl="0"/>
            <a:r>
              <a:rPr lang="en-US" sz="1600"/>
              <a:t>We often hear that self-confidence is highly valued in the workplace. The paper </a:t>
            </a:r>
            <a:r>
              <a:rPr lang="en-US" sz="1600" i="1"/>
              <a:t>“The Gender Gap in Self-Promotion”</a:t>
            </a:r>
            <a:r>
              <a:rPr lang="en-US" sz="1600"/>
              <a:t> by Exley and Kessler examines this through a gender lens and finds that women tend to underestimate their performance compared to equally capable men. </a:t>
            </a:r>
          </a:p>
          <a:p>
            <a:r>
              <a:rPr lang="en-US" sz="1600"/>
              <a:t>We </a:t>
            </a:r>
            <a:r>
              <a:rPr lang="en-US" sz="1600" b="1"/>
              <a:t>replicate</a:t>
            </a:r>
            <a:r>
              <a:rPr lang="en-US" sz="1600"/>
              <a:t> the main finding to verify that the pattern holds, after confirming the result we extend the analysis in two directions…</a:t>
            </a:r>
          </a:p>
          <a:p>
            <a:pPr marL="0" indent="0">
              <a:buNone/>
            </a:pPr>
            <a:r>
              <a:rPr lang="en-US" sz="1600" b="1"/>
              <a:t>Extensions</a:t>
            </a:r>
          </a:p>
          <a:p>
            <a:r>
              <a:rPr lang="en-US" sz="1600" b="1"/>
              <a:t>Extension 1 – PIAAC (Canada): </a:t>
            </a:r>
            <a:r>
              <a:rPr lang="en-US" sz="1600"/>
              <a:t>External dataset</a:t>
            </a:r>
            <a:br>
              <a:rPr lang="en-US" sz="1800"/>
            </a:br>
            <a:r>
              <a:rPr lang="en-US" sz="1600"/>
              <a:t>whether this  gap appears among working adults</a:t>
            </a:r>
          </a:p>
          <a:p>
            <a:r>
              <a:rPr lang="en-US" sz="1600" b="1"/>
              <a:t>Extension 2 – Original Experimental Dataset:</a:t>
            </a:r>
            <a:br>
              <a:rPr lang="en-US" sz="1600"/>
            </a:br>
            <a:r>
              <a:rPr lang="en-US" sz="1600"/>
              <a:t>to test whether factors beyond gender — such as age ,education level — help explain the gap.</a:t>
            </a:r>
          </a:p>
          <a:p>
            <a:pPr marL="0" indent="0">
              <a:buNone/>
            </a:pPr>
            <a:r>
              <a:rPr lang="en-US" sz="1600" b="1"/>
              <a:t>Topic Relevance : Management Sciences</a:t>
            </a:r>
          </a:p>
          <a:p>
            <a:r>
              <a:rPr lang="en-US" sz="1600"/>
              <a:t>It demonstrates how psychological biases, such as confidence gaps, influence organizational outcomes. </a:t>
            </a:r>
          </a:p>
          <a:p>
            <a:r>
              <a:rPr lang="en-US" sz="1600">
                <a:ea typeface="+mn-lt"/>
                <a:cs typeface="+mn-lt"/>
              </a:rPr>
              <a:t>Shows how combining </a:t>
            </a:r>
            <a:r>
              <a:rPr lang="en-US" sz="1600" b="1">
                <a:ea typeface="+mn-lt"/>
                <a:cs typeface="+mn-lt"/>
              </a:rPr>
              <a:t>behavioral insights + quantitative analysis</a:t>
            </a:r>
            <a:r>
              <a:rPr lang="en-US" sz="1600">
                <a:ea typeface="+mn-lt"/>
                <a:cs typeface="+mn-lt"/>
              </a:rPr>
              <a:t> helps explain gender inequalities.</a:t>
            </a:r>
            <a:endParaRPr lang="en-US">
              <a:ea typeface="+mn-lt"/>
              <a:cs typeface="+mn-lt"/>
            </a:endParaRPr>
          </a:p>
          <a:p>
            <a:pPr>
              <a:buClr>
                <a:srgbClr val="000000"/>
              </a:buClr>
            </a:pPr>
            <a:endParaRPr lang="en-US" sz="1600"/>
          </a:p>
        </p:txBody>
      </p:sp>
      <p:sp>
        <p:nvSpPr>
          <p:cNvPr id="6" name="Footer Placeholder 5"/>
          <p:cNvSpPr>
            <a:spLocks noGrp="1"/>
          </p:cNvSpPr>
          <p:nvPr>
            <p:ph type="ftr" sz="quarter" idx="11"/>
          </p:nvPr>
        </p:nvSpPr>
        <p:spPr/>
        <p:txBody>
          <a:bodyPr/>
          <a:lstStyle/>
          <a:p>
            <a:r>
              <a:rPr lang="en-US"/>
              <a:t>Gender Gap in Self-Promotion</a:t>
            </a:r>
          </a:p>
        </p:txBody>
      </p:sp>
      <p:sp>
        <p:nvSpPr>
          <p:cNvPr id="7" name="Slide Number Placeholder 6"/>
          <p:cNvSpPr>
            <a:spLocks noGrp="1"/>
          </p:cNvSpPr>
          <p:nvPr>
            <p:ph type="sldNum" sz="quarter" idx="12"/>
          </p:nvPr>
        </p:nvSpPr>
        <p:spPr/>
        <p:txBody>
          <a:bodyPr/>
          <a:lstStyle/>
          <a:p>
            <a:r>
              <a:rPr lang="en-US"/>
              <a:t>PAGE 1</a:t>
            </a:r>
          </a:p>
        </p:txBody>
      </p:sp>
    </p:spTree>
    <p:extLst>
      <p:ext uri="{BB962C8B-B14F-4D97-AF65-F5344CB8AC3E}">
        <p14:creationId xmlns:p14="http://schemas.microsoft.com/office/powerpoint/2010/main" val="4432072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64604-8ABA-9C60-FB00-FAE4112CC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08366-6A34-ED0A-C9CD-29316F683CB2}"/>
              </a:ext>
            </a:extLst>
          </p:cNvPr>
          <p:cNvSpPr>
            <a:spLocks noGrp="1"/>
          </p:cNvSpPr>
          <p:nvPr>
            <p:ph type="title"/>
          </p:nvPr>
        </p:nvSpPr>
        <p:spPr/>
        <p:txBody>
          <a:bodyPr>
            <a:normAutofit/>
          </a:bodyPr>
          <a:lstStyle/>
          <a:p>
            <a:r>
              <a:rPr lang="en-US"/>
              <a:t>REPLICATION – APPROACH &amp; RESULTS</a:t>
            </a:r>
          </a:p>
        </p:txBody>
      </p:sp>
      <p:sp>
        <p:nvSpPr>
          <p:cNvPr id="5" name="Footer Placeholder 4">
            <a:extLst>
              <a:ext uri="{FF2B5EF4-FFF2-40B4-BE49-F238E27FC236}">
                <a16:creationId xmlns:a16="http://schemas.microsoft.com/office/drawing/2014/main" id="{C90F62A8-3116-59F3-75C3-AD5E5B3939DB}"/>
              </a:ext>
            </a:extLst>
          </p:cNvPr>
          <p:cNvSpPr>
            <a:spLocks noGrp="1"/>
          </p:cNvSpPr>
          <p:nvPr>
            <p:ph type="ftr" sz="quarter" idx="11"/>
          </p:nvPr>
        </p:nvSpPr>
        <p:spPr/>
        <p:txBody>
          <a:bodyPr/>
          <a:lstStyle/>
          <a:p>
            <a:r>
              <a:rPr lang="en-US"/>
              <a:t>Gender Gap in Self-Promotion</a:t>
            </a:r>
          </a:p>
        </p:txBody>
      </p:sp>
      <p:sp>
        <p:nvSpPr>
          <p:cNvPr id="6" name="Slide Number Placeholder 5">
            <a:extLst>
              <a:ext uri="{FF2B5EF4-FFF2-40B4-BE49-F238E27FC236}">
                <a16:creationId xmlns:a16="http://schemas.microsoft.com/office/drawing/2014/main" id="{8E277B5F-EB83-286B-B2A8-60111792D317}"/>
              </a:ext>
            </a:extLst>
          </p:cNvPr>
          <p:cNvSpPr>
            <a:spLocks noGrp="1"/>
          </p:cNvSpPr>
          <p:nvPr>
            <p:ph type="sldNum" sz="quarter" idx="12"/>
          </p:nvPr>
        </p:nvSpPr>
        <p:spPr/>
        <p:txBody>
          <a:bodyPr/>
          <a:lstStyle/>
          <a:p>
            <a:r>
              <a:rPr lang="en-US"/>
              <a:t>PAGE 2</a:t>
            </a:r>
          </a:p>
        </p:txBody>
      </p:sp>
      <mc:AlternateContent xmlns:mc="http://schemas.openxmlformats.org/markup-compatibility/2006">
        <mc:Choice xmlns:a14="http://schemas.microsoft.com/office/drawing/2010/main" Requires="a14">
          <p:sp>
            <p:nvSpPr>
              <p:cNvPr id="11" name="Content Placeholder 2">
                <a:extLst>
                  <a:ext uri="{FF2B5EF4-FFF2-40B4-BE49-F238E27FC236}">
                    <a16:creationId xmlns:a16="http://schemas.microsoft.com/office/drawing/2014/main" id="{C6D8F227-F12B-4C89-4F20-4415F7F2E3C7}"/>
                  </a:ext>
                </a:extLst>
              </p:cNvPr>
              <p:cNvSpPr>
                <a:spLocks noGrp="1"/>
              </p:cNvSpPr>
              <p:nvPr>
                <p:ph idx="1"/>
              </p:nvPr>
            </p:nvSpPr>
            <p:spPr>
              <a:xfrm>
                <a:off x="259884" y="1413164"/>
                <a:ext cx="11569728" cy="4327236"/>
              </a:xfrm>
            </p:spPr>
            <p:txBody>
              <a:bodyPr>
                <a:noAutofit/>
              </a:bodyPr>
              <a:lstStyle/>
              <a:p>
                <a:pPr>
                  <a:spcBef>
                    <a:spcPts val="600"/>
                  </a:spcBef>
                  <a:spcAft>
                    <a:spcPts val="600"/>
                  </a:spcAft>
                </a:pPr>
                <a:r>
                  <a:rPr lang="en-CA" sz="1200"/>
                  <a:t>Wave 1 sample (n = </a:t>
                </a:r>
                <a:r>
                  <a:rPr lang="en-CA" sz="1200" b="1"/>
                  <a:t>3,892</a:t>
                </a:r>
                <a:r>
                  <a:rPr lang="en-CA" sz="1200"/>
                  <a:t>)</a:t>
                </a:r>
                <a:r>
                  <a:rPr lang="en-CA" sz="1200" b="1"/>
                  <a:t> </a:t>
                </a:r>
              </a:p>
              <a:p>
                <a:pPr>
                  <a:spcBef>
                    <a:spcPts val="600"/>
                  </a:spcBef>
                  <a:spcAft>
                    <a:spcPts val="600"/>
                  </a:spcAft>
                </a:pPr>
                <a:r>
                  <a:rPr lang="en-CA" sz="1200"/>
                  <a:t>Constructed: performance, belief, belief–performance gap, application/success outcomes.</a:t>
                </a:r>
              </a:p>
              <a:p>
                <a:pPr>
                  <a:spcBef>
                    <a:spcPts val="600"/>
                  </a:spcBef>
                  <a:spcAft>
                    <a:spcPts val="600"/>
                  </a:spcAft>
                </a:pPr>
                <a:r>
                  <a:rPr lang="en-CA" sz="1200"/>
                  <a:t>OLS model: </a:t>
                </a:r>
                <a14:m>
                  <m:oMath xmlns:m="http://schemas.openxmlformats.org/officeDocument/2006/math">
                    <m:r>
                      <a:rPr lang="en-CA" sz="1200" i="1">
                        <a:latin typeface="Cambria Math" panose="02040503050406030204" pitchFamily="18" charset="0"/>
                      </a:rPr>
                      <m:t>𝑌</m:t>
                    </m:r>
                    <m:r>
                      <a:rPr lang="en-CA" sz="1200">
                        <a:latin typeface="Cambria Math" panose="02040503050406030204" pitchFamily="18" charset="0"/>
                      </a:rPr>
                      <m:t>=</m:t>
                    </m:r>
                    <m:sSub>
                      <m:sSubPr>
                        <m:ctrlPr>
                          <a:rPr lang="ar-AE" sz="1200" i="1">
                            <a:latin typeface="Cambria Math" panose="02040503050406030204" pitchFamily="18" charset="0"/>
                          </a:rPr>
                        </m:ctrlPr>
                      </m:sSubPr>
                      <m:e>
                        <m:r>
                          <a:rPr lang="ar-AE" sz="1200" i="1">
                            <a:latin typeface="Cambria Math" panose="02040503050406030204" pitchFamily="18" charset="0"/>
                          </a:rPr>
                          <m:t>𝛽</m:t>
                        </m:r>
                      </m:e>
                      <m:sub>
                        <m:r>
                          <a:rPr lang="ar-AE" sz="1200">
                            <a:latin typeface="Cambria Math" panose="02040503050406030204" pitchFamily="18" charset="0"/>
                          </a:rPr>
                          <m:t>0</m:t>
                        </m:r>
                      </m:sub>
                    </m:sSub>
                    <m:r>
                      <a:rPr lang="ar-AE" sz="1200">
                        <a:latin typeface="Cambria Math" panose="02040503050406030204" pitchFamily="18" charset="0"/>
                      </a:rPr>
                      <m:t>+</m:t>
                    </m:r>
                    <m:sSub>
                      <m:sSubPr>
                        <m:ctrlPr>
                          <a:rPr lang="ar-AE" sz="1200" i="1">
                            <a:latin typeface="Cambria Math" panose="02040503050406030204" pitchFamily="18" charset="0"/>
                          </a:rPr>
                        </m:ctrlPr>
                      </m:sSubPr>
                      <m:e>
                        <m:r>
                          <a:rPr lang="ar-AE" sz="1200" i="1">
                            <a:latin typeface="Cambria Math" panose="02040503050406030204" pitchFamily="18" charset="0"/>
                          </a:rPr>
                          <m:t>𝛽</m:t>
                        </m:r>
                      </m:e>
                      <m:sub>
                        <m:r>
                          <a:rPr lang="ar-AE" sz="1200">
                            <a:latin typeface="Cambria Math" panose="02040503050406030204" pitchFamily="18" charset="0"/>
                          </a:rPr>
                          <m:t>1</m:t>
                        </m:r>
                      </m:sub>
                    </m:sSub>
                    <m:d>
                      <m:dPr>
                        <m:ctrlPr>
                          <a:rPr lang="ar-AE" sz="1200" i="1">
                            <a:latin typeface="Cambria Math" panose="02040503050406030204" pitchFamily="18" charset="0"/>
                          </a:rPr>
                        </m:ctrlPr>
                      </m:dPr>
                      <m:e>
                        <m:r>
                          <m:rPr>
                            <m:nor/>
                          </m:rPr>
                          <a:rPr lang="en-CA" sz="1200" i="1"/>
                          <m:t>Female</m:t>
                        </m:r>
                      </m:e>
                    </m:d>
                    <m:r>
                      <a:rPr lang="ar-AE" sz="1200">
                        <a:latin typeface="Cambria Math" panose="02040503050406030204" pitchFamily="18" charset="0"/>
                      </a:rPr>
                      <m:t>+</m:t>
                    </m:r>
                    <m:sSub>
                      <m:sSubPr>
                        <m:ctrlPr>
                          <a:rPr lang="ar-AE" sz="1200" i="1">
                            <a:latin typeface="Cambria Math" panose="02040503050406030204" pitchFamily="18" charset="0"/>
                          </a:rPr>
                        </m:ctrlPr>
                      </m:sSubPr>
                      <m:e>
                        <m:r>
                          <a:rPr lang="ar-AE" sz="1200" i="1">
                            <a:latin typeface="Cambria Math" panose="02040503050406030204" pitchFamily="18" charset="0"/>
                          </a:rPr>
                          <m:t>𝛽</m:t>
                        </m:r>
                      </m:e>
                      <m:sub>
                        <m:r>
                          <a:rPr lang="ar-AE" sz="1200">
                            <a:latin typeface="Cambria Math" panose="02040503050406030204" pitchFamily="18" charset="0"/>
                          </a:rPr>
                          <m:t>2</m:t>
                        </m:r>
                      </m:sub>
                    </m:sSub>
                    <m:d>
                      <m:dPr>
                        <m:ctrlPr>
                          <a:rPr lang="ar-AE" sz="1200" i="1">
                            <a:latin typeface="Cambria Math" panose="02040503050406030204" pitchFamily="18" charset="0"/>
                          </a:rPr>
                        </m:ctrlPr>
                      </m:dPr>
                      <m:e>
                        <m:r>
                          <m:rPr>
                            <m:nor/>
                          </m:rPr>
                          <a:rPr lang="en-CA" sz="1200" i="1"/>
                          <m:t>Performance</m:t>
                        </m:r>
                      </m:e>
                    </m:d>
                  </m:oMath>
                </a14:m>
                <a:endParaRPr lang="ar-AE" sz="1200" b="0"/>
              </a:p>
              <a:p>
                <a:pPr>
                  <a:spcBef>
                    <a:spcPts val="600"/>
                  </a:spcBef>
                  <a:spcAft>
                    <a:spcPts val="600"/>
                  </a:spcAft>
                </a:pPr>
                <a:r>
                  <a:rPr lang="en-CA" sz="1200"/>
                  <a:t>Women </a:t>
                </a:r>
                <a:r>
                  <a:rPr lang="en-CA" sz="1200" b="1"/>
                  <a:t>rate themselves lower</a:t>
                </a:r>
                <a:r>
                  <a:rPr lang="en-CA" sz="1200"/>
                  <a:t>, </a:t>
                </a:r>
                <a:r>
                  <a:rPr lang="en-CA" sz="1200" b="1"/>
                  <a:t>self-rank lower</a:t>
                </a:r>
                <a:r>
                  <a:rPr lang="en-CA" sz="1200"/>
                  <a:t>, </a:t>
                </a:r>
                <a:r>
                  <a:rPr lang="en-CA" sz="1200" b="1"/>
                  <a:t>apply less</a:t>
                </a:r>
                <a:r>
                  <a:rPr lang="en-CA" sz="1200"/>
                  <a:t>, and </a:t>
                </a:r>
                <a:r>
                  <a:rPr lang="en-CA" sz="1200" b="1"/>
                  <a:t>succeed less</a:t>
                </a:r>
                <a:r>
                  <a:rPr lang="en-CA" sz="1200"/>
                  <a:t> despite equal ability.</a:t>
                </a:r>
              </a:p>
              <a:p>
                <a:pPr marL="0" indent="0">
                  <a:spcBef>
                    <a:spcPts val="600"/>
                  </a:spcBef>
                  <a:spcAft>
                    <a:spcPts val="600"/>
                  </a:spcAft>
                  <a:buNone/>
                </a:pPr>
                <a:endParaRPr lang="en-US" sz="1200"/>
              </a:p>
            </p:txBody>
          </p:sp>
        </mc:Choice>
        <mc:Fallback>
          <p:sp>
            <p:nvSpPr>
              <p:cNvPr id="11" name="Content Placeholder 2">
                <a:extLst>
                  <a:ext uri="{FF2B5EF4-FFF2-40B4-BE49-F238E27FC236}">
                    <a16:creationId xmlns:a16="http://schemas.microsoft.com/office/drawing/2014/main" id="{C6D8F227-F12B-4C89-4F20-4415F7F2E3C7}"/>
                  </a:ext>
                </a:extLst>
              </p:cNvPr>
              <p:cNvSpPr>
                <a:spLocks noGrp="1" noRot="1" noChangeAspect="1" noMove="1" noResize="1" noEditPoints="1" noAdjustHandles="1" noChangeArrowheads="1" noChangeShapeType="1" noTextEdit="1"/>
              </p:cNvSpPr>
              <p:nvPr>
                <p:ph idx="1"/>
              </p:nvPr>
            </p:nvSpPr>
            <p:spPr>
              <a:xfrm>
                <a:off x="259884" y="1413164"/>
                <a:ext cx="11569728" cy="4327236"/>
              </a:xfrm>
              <a:blipFill>
                <a:blip r:embed="rId2"/>
                <a:stretch>
                  <a:fillRect t="-282"/>
                </a:stretch>
              </a:blipFill>
            </p:spPr>
            <p:txBody>
              <a:bodyPr/>
              <a:lstStyle/>
              <a:p>
                <a:r>
                  <a:rPr lang="en-US">
                    <a:noFill/>
                  </a:rPr>
                  <a:t> </a:t>
                </a:r>
              </a:p>
            </p:txBody>
          </p:sp>
        </mc:Fallback>
      </mc:AlternateContent>
      <p:pic>
        <p:nvPicPr>
          <p:cNvPr id="3" name="Picture 2" descr="A graph with blue dots&#10;&#10;AI-generated content may be incorrect.">
            <a:extLst>
              <a:ext uri="{FF2B5EF4-FFF2-40B4-BE49-F238E27FC236}">
                <a16:creationId xmlns:a16="http://schemas.microsoft.com/office/drawing/2014/main" id="{AE1E197A-A9A0-85E4-81C4-52F34F1AB87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57280" y="3175239"/>
            <a:ext cx="4657292" cy="1550002"/>
          </a:xfrm>
          <a:prstGeom prst="rect">
            <a:avLst/>
          </a:prstGeom>
          <a:noFill/>
          <a:ln>
            <a:noFill/>
          </a:ln>
        </p:spPr>
      </p:pic>
      <p:pic>
        <p:nvPicPr>
          <p:cNvPr id="4" name="Picture 3" descr="A screenshot of a computer&#10;&#10;AI-generated content may be incorrect.">
            <a:extLst>
              <a:ext uri="{FF2B5EF4-FFF2-40B4-BE49-F238E27FC236}">
                <a16:creationId xmlns:a16="http://schemas.microsoft.com/office/drawing/2014/main" id="{7D05D02A-4215-FE7B-8424-308B4F89A63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09402" y="4864938"/>
            <a:ext cx="5353050" cy="1180261"/>
          </a:xfrm>
          <a:prstGeom prst="rect">
            <a:avLst/>
          </a:prstGeom>
          <a:solidFill>
            <a:srgbClr val="FFFFFF">
              <a:shade val="85000"/>
            </a:srgbClr>
          </a:solidFill>
          <a:ln w="6350" cap="sq">
            <a:solidFill>
              <a:schemeClr val="tx1"/>
            </a:solidFill>
            <a:miter lim="800000"/>
          </a:ln>
          <a:effectLst/>
          <a:scene3d>
            <a:camera prst="orthographicFront"/>
            <a:lightRig rig="twoPt" dir="t">
              <a:rot lat="0" lon="0" rev="7200000"/>
            </a:lightRig>
          </a:scene3d>
          <a:sp3d>
            <a:contourClr>
              <a:srgbClr val="FFFFFF"/>
            </a:contourClr>
          </a:sp3d>
        </p:spPr>
      </p:pic>
      <p:pic>
        <p:nvPicPr>
          <p:cNvPr id="1026" name="Picture 2" descr="A table with numbers and a list of performance&#10;&#10;AI-generated content may be incorrect.">
            <a:extLst>
              <a:ext uri="{FF2B5EF4-FFF2-40B4-BE49-F238E27FC236}">
                <a16:creationId xmlns:a16="http://schemas.microsoft.com/office/drawing/2014/main" id="{42F6F7B5-AD19-7D6E-B581-CC11D75D2D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389" y="4802091"/>
            <a:ext cx="4755105" cy="133876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B73406F-C6F8-1B75-5E41-54DB1D7370C8}"/>
              </a:ext>
            </a:extLst>
          </p:cNvPr>
          <p:cNvSpPr txBox="1"/>
          <p:nvPr/>
        </p:nvSpPr>
        <p:spPr>
          <a:xfrm>
            <a:off x="1270778" y="2830500"/>
            <a:ext cx="3204723" cy="261610"/>
          </a:xfrm>
          <a:prstGeom prst="rect">
            <a:avLst/>
          </a:prstGeom>
          <a:noFill/>
        </p:spPr>
        <p:txBody>
          <a:bodyPr wrap="none" rtlCol="0">
            <a:spAutoFit/>
          </a:bodyPr>
          <a:lstStyle/>
          <a:p>
            <a:r>
              <a:rPr lang="en-US" sz="1100" b="1"/>
              <a:t>Published Results (Exley &amp; Kessler, 2022)</a:t>
            </a:r>
            <a:endParaRPr lang="en-CA" sz="1100"/>
          </a:p>
        </p:txBody>
      </p:sp>
      <p:sp>
        <p:nvSpPr>
          <p:cNvPr id="8" name="TextBox 7">
            <a:extLst>
              <a:ext uri="{FF2B5EF4-FFF2-40B4-BE49-F238E27FC236}">
                <a16:creationId xmlns:a16="http://schemas.microsoft.com/office/drawing/2014/main" id="{0E3D61BA-E534-124B-E20E-D9DF68723245}"/>
              </a:ext>
            </a:extLst>
          </p:cNvPr>
          <p:cNvSpPr txBox="1"/>
          <p:nvPr/>
        </p:nvSpPr>
        <p:spPr>
          <a:xfrm>
            <a:off x="6808274" y="2830500"/>
            <a:ext cx="4155305" cy="261610"/>
          </a:xfrm>
          <a:prstGeom prst="rect">
            <a:avLst/>
          </a:prstGeom>
          <a:noFill/>
        </p:spPr>
        <p:txBody>
          <a:bodyPr wrap="none" rtlCol="0">
            <a:spAutoFit/>
          </a:bodyPr>
          <a:lstStyle/>
          <a:p>
            <a:r>
              <a:rPr lang="en-US" sz="1100" b="1"/>
              <a:t>Replication Output - Using Wave 1 Self-Promotion data</a:t>
            </a:r>
            <a:endParaRPr lang="en-CA" sz="800"/>
          </a:p>
        </p:txBody>
      </p:sp>
      <p:pic>
        <p:nvPicPr>
          <p:cNvPr id="10" name="Picture 9">
            <a:extLst>
              <a:ext uri="{FF2B5EF4-FFF2-40B4-BE49-F238E27FC236}">
                <a16:creationId xmlns:a16="http://schemas.microsoft.com/office/drawing/2014/main" id="{E8B77F79-273C-9BA1-8934-7F9F86E1A935}"/>
              </a:ext>
            </a:extLst>
          </p:cNvPr>
          <p:cNvPicPr>
            <a:picLocks noChangeAspect="1"/>
          </p:cNvPicPr>
          <p:nvPr/>
        </p:nvPicPr>
        <p:blipFill>
          <a:blip r:embed="rId6"/>
          <a:stretch>
            <a:fillRect/>
          </a:stretch>
        </p:blipFill>
        <p:spPr>
          <a:xfrm>
            <a:off x="651308" y="3059073"/>
            <a:ext cx="4657292" cy="1743018"/>
          </a:xfrm>
          <a:prstGeom prst="rect">
            <a:avLst/>
          </a:prstGeom>
        </p:spPr>
      </p:pic>
    </p:spTree>
    <p:extLst>
      <p:ext uri="{BB962C8B-B14F-4D97-AF65-F5344CB8AC3E}">
        <p14:creationId xmlns:p14="http://schemas.microsoft.com/office/powerpoint/2010/main" val="23840196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DCCB-E677-877D-BBDB-0AFDAB1EF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451E37-3DE2-8EBD-4169-CE4E3FE7BC27}"/>
              </a:ext>
            </a:extLst>
          </p:cNvPr>
          <p:cNvSpPr>
            <a:spLocks noGrp="1"/>
          </p:cNvSpPr>
          <p:nvPr>
            <p:ph type="title"/>
          </p:nvPr>
        </p:nvSpPr>
        <p:spPr/>
        <p:txBody>
          <a:bodyPr>
            <a:normAutofit/>
          </a:bodyPr>
          <a:lstStyle/>
          <a:p>
            <a:r>
              <a:rPr lang="en-US"/>
              <a:t>DIAGNOSTICS &amp; CHECKS</a:t>
            </a:r>
          </a:p>
        </p:txBody>
      </p:sp>
      <p:sp>
        <p:nvSpPr>
          <p:cNvPr id="5" name="Footer Placeholder 4">
            <a:extLst>
              <a:ext uri="{FF2B5EF4-FFF2-40B4-BE49-F238E27FC236}">
                <a16:creationId xmlns:a16="http://schemas.microsoft.com/office/drawing/2014/main" id="{A810A132-2D80-8A1E-3A16-E6B8B843C14F}"/>
              </a:ext>
            </a:extLst>
          </p:cNvPr>
          <p:cNvSpPr>
            <a:spLocks noGrp="1"/>
          </p:cNvSpPr>
          <p:nvPr>
            <p:ph type="ftr" sz="quarter" idx="11"/>
          </p:nvPr>
        </p:nvSpPr>
        <p:spPr/>
        <p:txBody>
          <a:bodyPr/>
          <a:lstStyle/>
          <a:p>
            <a:r>
              <a:rPr lang="en-US"/>
              <a:t>Gender Gap in Self-Promotion</a:t>
            </a:r>
          </a:p>
        </p:txBody>
      </p:sp>
      <p:sp>
        <p:nvSpPr>
          <p:cNvPr id="6" name="Slide Number Placeholder 5">
            <a:extLst>
              <a:ext uri="{FF2B5EF4-FFF2-40B4-BE49-F238E27FC236}">
                <a16:creationId xmlns:a16="http://schemas.microsoft.com/office/drawing/2014/main" id="{78AF0ED9-5B2D-469D-3CDA-3CFB8C15B034}"/>
              </a:ext>
            </a:extLst>
          </p:cNvPr>
          <p:cNvSpPr>
            <a:spLocks noGrp="1"/>
          </p:cNvSpPr>
          <p:nvPr>
            <p:ph type="sldNum" sz="quarter" idx="12"/>
          </p:nvPr>
        </p:nvSpPr>
        <p:spPr/>
        <p:txBody>
          <a:bodyPr/>
          <a:lstStyle/>
          <a:p>
            <a:r>
              <a:rPr lang="en-US"/>
              <a:t>PAGE 3</a:t>
            </a:r>
          </a:p>
        </p:txBody>
      </p:sp>
      <p:sp>
        <p:nvSpPr>
          <p:cNvPr id="11" name="Content Placeholder 2">
            <a:extLst>
              <a:ext uri="{FF2B5EF4-FFF2-40B4-BE49-F238E27FC236}">
                <a16:creationId xmlns:a16="http://schemas.microsoft.com/office/drawing/2014/main" id="{CF7833AF-9097-C7FB-7203-A96EC0CC91EE}"/>
              </a:ext>
            </a:extLst>
          </p:cNvPr>
          <p:cNvSpPr>
            <a:spLocks noGrp="1"/>
          </p:cNvSpPr>
          <p:nvPr>
            <p:ph idx="1"/>
          </p:nvPr>
        </p:nvSpPr>
        <p:spPr>
          <a:xfrm>
            <a:off x="259884" y="1413164"/>
            <a:ext cx="5733612" cy="4514394"/>
          </a:xfrm>
        </p:spPr>
        <p:txBody>
          <a:bodyPr>
            <a:noAutofit/>
          </a:bodyPr>
          <a:lstStyle/>
          <a:p>
            <a:pPr marL="0" indent="0">
              <a:buNone/>
            </a:pPr>
            <a:r>
              <a:rPr lang="en-US" sz="1400" b="1"/>
              <a:t>Missingness</a:t>
            </a:r>
            <a:endParaRPr lang="en-US" b="1"/>
          </a:p>
          <a:p>
            <a:pPr marL="0" indent="0">
              <a:buNone/>
            </a:pPr>
            <a:endParaRPr lang="en-US" b="1"/>
          </a:p>
          <a:p>
            <a:pPr marL="0" indent="0">
              <a:buNone/>
            </a:pPr>
            <a:endParaRPr lang="en-US" b="1"/>
          </a:p>
          <a:p>
            <a:pPr marL="0" indent="0">
              <a:spcBef>
                <a:spcPts val="400"/>
              </a:spcBef>
              <a:spcAft>
                <a:spcPts val="400"/>
              </a:spcAft>
              <a:buNone/>
            </a:pPr>
            <a:endParaRPr lang="en-US" sz="700"/>
          </a:p>
        </p:txBody>
      </p:sp>
      <p:sp>
        <p:nvSpPr>
          <p:cNvPr id="12" name="Content Placeholder 2">
            <a:extLst>
              <a:ext uri="{FF2B5EF4-FFF2-40B4-BE49-F238E27FC236}">
                <a16:creationId xmlns:a16="http://schemas.microsoft.com/office/drawing/2014/main" id="{58A09367-1F15-B2F4-070A-087425B5A6AD}"/>
              </a:ext>
            </a:extLst>
          </p:cNvPr>
          <p:cNvSpPr txBox="1">
            <a:spLocks/>
          </p:cNvSpPr>
          <p:nvPr/>
        </p:nvSpPr>
        <p:spPr>
          <a:xfrm>
            <a:off x="6096000" y="1413164"/>
            <a:ext cx="5733612" cy="4514394"/>
          </a:xfrm>
          <a:prstGeom prst="rect">
            <a:avLst/>
          </a:prstGeom>
        </p:spPr>
        <p:txBody>
          <a:bodyPr vert="horz" lIns="91440" tIns="45720" rIns="91440" bIns="45720" rtlCol="0">
            <a:noAutofit/>
          </a:bodyPr>
          <a:lstStyle>
            <a:lvl1pPr marL="288925" indent="-288925" algn="l" defTabSz="914400"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None/>
            </a:pPr>
            <a:r>
              <a:rPr lang="en-US" sz="1800" b="1"/>
              <a:t>Heterogeneity in the Gender Confidence Gap Across Performance Levels</a:t>
            </a:r>
            <a:r>
              <a:rPr lang="en-US" sz="1800"/>
              <a:t>​</a:t>
            </a:r>
          </a:p>
          <a:p>
            <a:pPr marL="0" indent="0" fontAlgn="base">
              <a:buNone/>
            </a:pPr>
            <a:r>
              <a:rPr lang="en-US" sz="1400"/>
              <a:t>Both men and women overestimate themselves in the low group, but women underestimate more strongly in the medium and high groups. The pattern suggests that the gender gap widens with ability or education level.​</a:t>
            </a:r>
          </a:p>
          <a:p>
            <a:pPr marL="0" indent="0">
              <a:spcBef>
                <a:spcPts val="600"/>
              </a:spcBef>
              <a:spcAft>
                <a:spcPts val="600"/>
              </a:spcAft>
              <a:buNone/>
            </a:pPr>
            <a:endParaRPr lang="en-US" sz="1100" b="1"/>
          </a:p>
        </p:txBody>
      </p:sp>
      <p:pic>
        <p:nvPicPr>
          <p:cNvPr id="2050" name="Picture 2">
            <a:extLst>
              <a:ext uri="{FF2B5EF4-FFF2-40B4-BE49-F238E27FC236}">
                <a16:creationId xmlns:a16="http://schemas.microsoft.com/office/drawing/2014/main" id="{89CDC053-65CA-41DA-8A01-A6D27B086C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388" y="1808838"/>
            <a:ext cx="2474397" cy="114135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16">
            <a:extLst>
              <a:ext uri="{FF2B5EF4-FFF2-40B4-BE49-F238E27FC236}">
                <a16:creationId xmlns:a16="http://schemas.microsoft.com/office/drawing/2014/main" id="{DF79C35F-3B3F-DDAF-FD08-094BD5F7FE7A}"/>
              </a:ext>
            </a:extLst>
          </p:cNvPr>
          <p:cNvSpPr txBox="1"/>
          <p:nvPr/>
        </p:nvSpPr>
        <p:spPr>
          <a:xfrm>
            <a:off x="259882" y="2984795"/>
            <a:ext cx="2217847"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Georgia"/>
                <a:ea typeface="+mn-ea"/>
                <a:cs typeface="+mn-cs"/>
              </a:rPr>
              <a:t>Outliers</a:t>
            </a:r>
            <a:r>
              <a:rPr kumimoji="0" lang="en-US" sz="1600" b="1" i="0" u="none" strike="noStrike" kern="1200" cap="none" spc="0" normalizeH="0" baseline="0" noProof="0">
                <a:ln>
                  <a:noFill/>
                </a:ln>
                <a:solidFill>
                  <a:prstClr val="black"/>
                </a:solidFill>
                <a:effectLst/>
                <a:uLnTx/>
                <a:uFillTx/>
                <a:latin typeface="Georgia"/>
                <a:ea typeface="+mn-ea"/>
                <a:cs typeface="+mn-cs"/>
              </a:rPr>
              <a:t> </a:t>
            </a:r>
          </a:p>
        </p:txBody>
      </p:sp>
      <p:pic>
        <p:nvPicPr>
          <p:cNvPr id="2052" name="Picture 4" descr="A screenshot of a computer&#10;&#10;AI-generated content may be incorrect.">
            <a:extLst>
              <a:ext uri="{FF2B5EF4-FFF2-40B4-BE49-F238E27FC236}">
                <a16:creationId xmlns:a16="http://schemas.microsoft.com/office/drawing/2014/main" id="{A35E2F01-F636-4AC4-1431-F7C6FCF691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388" y="3357947"/>
            <a:ext cx="4893379" cy="70523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20">
            <a:extLst>
              <a:ext uri="{FF2B5EF4-FFF2-40B4-BE49-F238E27FC236}">
                <a16:creationId xmlns:a16="http://schemas.microsoft.com/office/drawing/2014/main" id="{4C58C5EA-54B2-0786-AB24-75E7F5009D2B}"/>
              </a:ext>
            </a:extLst>
          </p:cNvPr>
          <p:cNvSpPr txBox="1"/>
          <p:nvPr/>
        </p:nvSpPr>
        <p:spPr>
          <a:xfrm>
            <a:off x="259882" y="4097780"/>
            <a:ext cx="1523998" cy="30777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a:ln>
                  <a:noFill/>
                </a:ln>
                <a:solidFill>
                  <a:prstClr val="black"/>
                </a:solidFill>
                <a:effectLst/>
                <a:uLnTx/>
                <a:uFillTx/>
                <a:latin typeface="Georgia"/>
                <a:ea typeface="+mn-ea"/>
                <a:cs typeface="+mn-cs"/>
              </a:rPr>
              <a:t>Robustness </a:t>
            </a:r>
          </a:p>
        </p:txBody>
      </p:sp>
      <p:pic>
        <p:nvPicPr>
          <p:cNvPr id="2054" name="Picture 6">
            <a:extLst>
              <a:ext uri="{FF2B5EF4-FFF2-40B4-BE49-F238E27FC236}">
                <a16:creationId xmlns:a16="http://schemas.microsoft.com/office/drawing/2014/main" id="{75CAEDC3-32C4-53A9-D0BB-4837944CCC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388" y="4509415"/>
            <a:ext cx="5504476" cy="607786"/>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A screenshot of a computer&#10;&#10;AI-generated content may be incorrect.">
            <a:extLst>
              <a:ext uri="{FF2B5EF4-FFF2-40B4-BE49-F238E27FC236}">
                <a16:creationId xmlns:a16="http://schemas.microsoft.com/office/drawing/2014/main" id="{76E82CEE-4290-FADB-B6BF-94CCF95EEE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6864" y="3123960"/>
            <a:ext cx="5900124" cy="895927"/>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A graph of a performance&#10;&#10;AI-generated content may be incorrect.">
            <a:extLst>
              <a:ext uri="{FF2B5EF4-FFF2-40B4-BE49-F238E27FC236}">
                <a16:creationId xmlns:a16="http://schemas.microsoft.com/office/drawing/2014/main" id="{6A510A15-7FAA-A366-C22E-93D784A06C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7144" y="4171476"/>
            <a:ext cx="4171323" cy="189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29158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29692-E01A-3BB6-D91A-5BB6295F9714}"/>
            </a:ext>
          </a:extLst>
        </p:cNvPr>
        <p:cNvGrpSpPr/>
        <p:nvPr/>
      </p:nvGrpSpPr>
      <p:grpSpPr>
        <a:xfrm>
          <a:off x="0" y="0"/>
          <a:ext cx="0" cy="0"/>
          <a:chOff x="0" y="0"/>
          <a:chExt cx="0" cy="0"/>
        </a:xfrm>
      </p:grpSpPr>
      <p:pic>
        <p:nvPicPr>
          <p:cNvPr id="20" name="Picture 19" descr="A graph of a graph of a graph of a graph of a graph of a graph of a graph of a graph of a graph of a graph of a graph of a graph of a graph of&#10;&#10;AI-generated content may be incorrect.">
            <a:extLst>
              <a:ext uri="{FF2B5EF4-FFF2-40B4-BE49-F238E27FC236}">
                <a16:creationId xmlns:a16="http://schemas.microsoft.com/office/drawing/2014/main" id="{42B3D61F-27A7-5FC1-3D67-154D63E1115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73212" y="3318535"/>
            <a:ext cx="5083278" cy="3021719"/>
          </a:xfrm>
          <a:prstGeom prst="rect">
            <a:avLst/>
          </a:prstGeom>
          <a:noFill/>
          <a:ln>
            <a:noFill/>
          </a:ln>
        </p:spPr>
      </p:pic>
      <p:sp>
        <p:nvSpPr>
          <p:cNvPr id="2" name="Title 1">
            <a:extLst>
              <a:ext uri="{FF2B5EF4-FFF2-40B4-BE49-F238E27FC236}">
                <a16:creationId xmlns:a16="http://schemas.microsoft.com/office/drawing/2014/main" id="{2E941704-395E-B75D-975A-9B7A96FA3443}"/>
              </a:ext>
            </a:extLst>
          </p:cNvPr>
          <p:cNvSpPr>
            <a:spLocks noGrp="1"/>
          </p:cNvSpPr>
          <p:nvPr>
            <p:ph type="title"/>
          </p:nvPr>
        </p:nvSpPr>
        <p:spPr/>
        <p:txBody>
          <a:bodyPr>
            <a:normAutofit/>
          </a:bodyPr>
          <a:lstStyle/>
          <a:p>
            <a:r>
              <a:rPr lang="en-US"/>
              <a:t>EXTENSION 1 – DATA, MEASURES &amp; MODEL SPECIFICATION</a:t>
            </a:r>
          </a:p>
        </p:txBody>
      </p:sp>
      <p:sp>
        <p:nvSpPr>
          <p:cNvPr id="5" name="Footer Placeholder 4">
            <a:extLst>
              <a:ext uri="{FF2B5EF4-FFF2-40B4-BE49-F238E27FC236}">
                <a16:creationId xmlns:a16="http://schemas.microsoft.com/office/drawing/2014/main" id="{61B91B22-EBAB-A0EC-6EA3-C5E788EE7934}"/>
              </a:ext>
            </a:extLst>
          </p:cNvPr>
          <p:cNvSpPr>
            <a:spLocks noGrp="1"/>
          </p:cNvSpPr>
          <p:nvPr>
            <p:ph type="ftr" sz="quarter" idx="11"/>
          </p:nvPr>
        </p:nvSpPr>
        <p:spPr/>
        <p:txBody>
          <a:bodyPr/>
          <a:lstStyle/>
          <a:p>
            <a:r>
              <a:rPr lang="en-US"/>
              <a:t>Gender Gap in Self-Promotion</a:t>
            </a:r>
          </a:p>
        </p:txBody>
      </p:sp>
      <p:sp>
        <p:nvSpPr>
          <p:cNvPr id="6" name="Slide Number Placeholder 5">
            <a:extLst>
              <a:ext uri="{FF2B5EF4-FFF2-40B4-BE49-F238E27FC236}">
                <a16:creationId xmlns:a16="http://schemas.microsoft.com/office/drawing/2014/main" id="{B234B6FD-BBB6-24E3-6BB9-BD4C41B7D742}"/>
              </a:ext>
            </a:extLst>
          </p:cNvPr>
          <p:cNvSpPr>
            <a:spLocks noGrp="1"/>
          </p:cNvSpPr>
          <p:nvPr>
            <p:ph type="sldNum" sz="quarter" idx="12"/>
          </p:nvPr>
        </p:nvSpPr>
        <p:spPr/>
        <p:txBody>
          <a:bodyPr/>
          <a:lstStyle/>
          <a:p>
            <a:r>
              <a:rPr lang="en-US"/>
              <a:t>PAGE 4</a:t>
            </a:r>
          </a:p>
        </p:txBody>
      </p:sp>
      <p:sp>
        <p:nvSpPr>
          <p:cNvPr id="4" name="Rectangle 2">
            <a:extLst>
              <a:ext uri="{FF2B5EF4-FFF2-40B4-BE49-F238E27FC236}">
                <a16:creationId xmlns:a16="http://schemas.microsoft.com/office/drawing/2014/main" id="{62E084DB-F3C4-634B-81A6-D3AEBB6B20BA}"/>
              </a:ext>
            </a:extLst>
          </p:cNvPr>
          <p:cNvSpPr>
            <a:spLocks noGrp="1" noChangeArrowheads="1"/>
          </p:cNvSpPr>
          <p:nvPr>
            <p:ph idx="1"/>
          </p:nvPr>
        </p:nvSpPr>
        <p:spPr bwMode="auto">
          <a:xfrm>
            <a:off x="243449" y="1400624"/>
            <a:ext cx="5226516" cy="4585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ts val="600"/>
              </a:spcBef>
              <a:spcAft>
                <a:spcPts val="600"/>
              </a:spcAft>
              <a:buClrTx/>
              <a:buSzTx/>
            </a:pPr>
            <a:r>
              <a:rPr kumimoji="0" lang="en-US" altLang="en-US" sz="1200" b="0" i="0" u="none" strike="noStrike" cap="none" normalizeH="0" baseline="0">
                <a:ln>
                  <a:noFill/>
                </a:ln>
                <a:solidFill>
                  <a:schemeClr val="tx1"/>
                </a:solidFill>
                <a:effectLst/>
              </a:rPr>
              <a:t>Used </a:t>
            </a:r>
            <a:r>
              <a:rPr kumimoji="0" lang="en-US" altLang="en-US" sz="1200" b="1" i="0" u="none" strike="noStrike" cap="none" normalizeH="0" baseline="0">
                <a:ln>
                  <a:noFill/>
                </a:ln>
                <a:solidFill>
                  <a:schemeClr val="tx1"/>
                </a:solidFill>
                <a:effectLst/>
              </a:rPr>
              <a:t>PIAAC Canada</a:t>
            </a:r>
            <a:r>
              <a:rPr kumimoji="0" lang="en-US" altLang="en-US" sz="1200" b="0" i="0" u="none" strike="noStrike" cap="none" normalizeH="0" baseline="0">
                <a:ln>
                  <a:noFill/>
                </a:ln>
                <a:solidFill>
                  <a:schemeClr val="tx1"/>
                </a:solidFill>
                <a:effectLst/>
              </a:rPr>
              <a:t> ~</a:t>
            </a:r>
            <a:r>
              <a:rPr lang="en-US" altLang="en-US" sz="1200" b="1"/>
              <a:t>26</a:t>
            </a:r>
            <a:r>
              <a:rPr kumimoji="0" lang="en-US" altLang="en-US" sz="1200" b="1" i="0" u="none" strike="noStrike" cap="none" normalizeH="0" baseline="0">
                <a:ln>
                  <a:noFill/>
                </a:ln>
                <a:solidFill>
                  <a:schemeClr val="tx1"/>
                </a:solidFill>
                <a:effectLst/>
              </a:rPr>
              <a:t>,683 adults </a:t>
            </a:r>
            <a:r>
              <a:rPr lang="en-US" altLang="en-US" sz="1200"/>
              <a:t>(</a:t>
            </a:r>
            <a:r>
              <a:rPr lang="en-IN" sz="1200"/>
              <a:t>Balanced Repeated Replication</a:t>
            </a:r>
            <a:r>
              <a:rPr lang="en-US" altLang="en-US" sz="1200"/>
              <a:t>-weighted), </a:t>
            </a:r>
            <a:endParaRPr kumimoji="0" lang="en-US" altLang="en-US" sz="1200" b="0" i="0" u="none" strike="noStrike" cap="none" normalizeH="0" baseline="0">
              <a:ln>
                <a:noFill/>
              </a:ln>
              <a:solidFill>
                <a:schemeClr val="tx1"/>
              </a:solidFill>
              <a:effectLst/>
            </a:endParaRPr>
          </a:p>
          <a:p>
            <a:pPr eaLnBrk="0" fontAlgn="base" hangingPunct="0">
              <a:spcBef>
                <a:spcPts val="600"/>
              </a:spcBef>
              <a:spcAft>
                <a:spcPts val="600"/>
              </a:spcAft>
              <a:buClrTx/>
              <a:buSzTx/>
            </a:pPr>
            <a:r>
              <a:rPr kumimoji="0" lang="en-US" altLang="en-US" sz="1200" b="0" i="0" u="none" strike="noStrike" cap="none" normalizeH="0" baseline="0">
                <a:ln>
                  <a:noFill/>
                </a:ln>
                <a:solidFill>
                  <a:schemeClr val="tx1"/>
                </a:solidFill>
                <a:effectLst/>
              </a:rPr>
              <a:t>Includes valid numeracy performance and numeracy-use responses; key subgroups: </a:t>
            </a:r>
            <a:r>
              <a:rPr kumimoji="0" lang="en-US" altLang="en-US" sz="1200" b="1" i="0" u="none" strike="noStrike" cap="none" normalizeH="0" baseline="0">
                <a:ln>
                  <a:noFill/>
                </a:ln>
                <a:solidFill>
                  <a:schemeClr val="tx1"/>
                </a:solidFill>
                <a:effectLst/>
              </a:rPr>
              <a:t>education</a:t>
            </a:r>
            <a:r>
              <a:rPr kumimoji="0" lang="en-US" altLang="en-US" sz="1200" b="0" i="0" u="none" strike="noStrike" cap="none" normalizeH="0" baseline="0">
                <a:ln>
                  <a:noFill/>
                </a:ln>
                <a:solidFill>
                  <a:schemeClr val="tx1"/>
                </a:solidFill>
                <a:effectLst/>
              </a:rPr>
              <a:t>, </a:t>
            </a:r>
            <a:r>
              <a:rPr kumimoji="0" lang="en-US" altLang="en-US" sz="1200" b="1" i="0" u="none" strike="noStrike" cap="none" normalizeH="0" baseline="0">
                <a:ln>
                  <a:noFill/>
                </a:ln>
                <a:solidFill>
                  <a:schemeClr val="tx1"/>
                </a:solidFill>
                <a:effectLst/>
              </a:rPr>
              <a:t>age</a:t>
            </a:r>
            <a:r>
              <a:rPr kumimoji="0" lang="en-US" altLang="en-US" sz="1200" b="0" i="0" u="none" strike="noStrike" cap="none" normalizeH="0" baseline="0">
                <a:ln>
                  <a:noFill/>
                </a:ln>
                <a:solidFill>
                  <a:schemeClr val="tx1"/>
                </a:solidFill>
                <a:effectLst/>
              </a:rPr>
              <a:t>, </a:t>
            </a:r>
            <a:r>
              <a:rPr kumimoji="0" lang="en-US" altLang="en-US" sz="1200" b="1" i="0" u="none" strike="noStrike" cap="none" normalizeH="0" baseline="0">
                <a:ln>
                  <a:noFill/>
                </a:ln>
                <a:solidFill>
                  <a:schemeClr val="tx1"/>
                </a:solidFill>
                <a:effectLst/>
              </a:rPr>
              <a:t>occupation</a:t>
            </a:r>
            <a:r>
              <a:rPr kumimoji="0" lang="en-US" altLang="en-US" sz="1200" b="0" i="0" u="none" strike="noStrike" cap="none" normalizeH="0" baseline="0">
                <a:ln>
                  <a:noFill/>
                </a:ln>
                <a:solidFill>
                  <a:schemeClr val="tx1"/>
                </a:solidFill>
                <a:effectLst/>
              </a:rPr>
              <a:t>.</a:t>
            </a:r>
          </a:p>
          <a:p>
            <a:pPr eaLnBrk="0" fontAlgn="base" hangingPunct="0">
              <a:spcBef>
                <a:spcPts val="600"/>
              </a:spcBef>
              <a:spcAft>
                <a:spcPts val="600"/>
              </a:spcAft>
              <a:buClrTx/>
              <a:buSzTx/>
            </a:pPr>
            <a:r>
              <a:rPr kumimoji="0" lang="en-US" altLang="en-US" sz="1200" b="0" i="0" u="none" strike="noStrike" cap="none" normalizeH="0" baseline="0">
                <a:ln>
                  <a:noFill/>
                </a:ln>
                <a:solidFill>
                  <a:schemeClr val="tx1"/>
                </a:solidFill>
                <a:effectLst/>
              </a:rPr>
              <a:t>Calculated: </a:t>
            </a:r>
            <a:r>
              <a:rPr kumimoji="0" lang="en-US" altLang="en-US" sz="1200" b="1" i="0" u="none" strike="noStrike" cap="none" normalizeH="0" baseline="0" err="1">
                <a:ln>
                  <a:noFill/>
                </a:ln>
                <a:solidFill>
                  <a:schemeClr val="tx1"/>
                </a:solidFill>
                <a:effectLst/>
              </a:rPr>
              <a:t>perf_z</a:t>
            </a:r>
            <a:r>
              <a:rPr kumimoji="0" lang="en-US" altLang="en-US" sz="1200" b="0" i="0" u="none" strike="noStrike" cap="none" normalizeH="0" baseline="0">
                <a:ln>
                  <a:noFill/>
                </a:ln>
                <a:solidFill>
                  <a:schemeClr val="tx1"/>
                </a:solidFill>
                <a:effectLst/>
              </a:rPr>
              <a:t>, </a:t>
            </a:r>
            <a:r>
              <a:rPr kumimoji="0" lang="en-US" altLang="en-US" sz="1200" b="1" i="0" u="none" strike="noStrike" cap="none" normalizeH="0" baseline="0" err="1">
                <a:ln>
                  <a:noFill/>
                </a:ln>
                <a:solidFill>
                  <a:schemeClr val="tx1"/>
                </a:solidFill>
                <a:effectLst/>
              </a:rPr>
              <a:t>use_z</a:t>
            </a:r>
            <a:r>
              <a:rPr kumimoji="0" lang="en-US" altLang="en-US" sz="1200" b="0" i="0" u="none" strike="noStrike" cap="none" normalizeH="0" baseline="0">
                <a:ln>
                  <a:noFill/>
                </a:ln>
                <a:solidFill>
                  <a:schemeClr val="tx1"/>
                </a:solidFill>
                <a:effectLst/>
              </a:rPr>
              <a:t>, and </a:t>
            </a:r>
            <a:r>
              <a:rPr kumimoji="0" lang="en-US" altLang="en-US" sz="1200" b="1" i="0" u="none" strike="noStrike" cap="none" normalizeH="0" baseline="0" err="1">
                <a:ln>
                  <a:noFill/>
                </a:ln>
                <a:solidFill>
                  <a:schemeClr val="tx1"/>
                </a:solidFill>
                <a:effectLst/>
              </a:rPr>
              <a:t>gap_z</a:t>
            </a:r>
            <a:r>
              <a:rPr kumimoji="0" lang="en-US" altLang="en-US" sz="1200" b="1" i="0" u="none" strike="noStrike" cap="none" normalizeH="0" baseline="0">
                <a:ln>
                  <a:noFill/>
                </a:ln>
                <a:solidFill>
                  <a:schemeClr val="tx1"/>
                </a:solidFill>
                <a:effectLst/>
              </a:rPr>
              <a:t> = </a:t>
            </a:r>
            <a:r>
              <a:rPr kumimoji="0" lang="en-US" altLang="en-US" sz="1200" b="1" i="0" u="none" strike="noStrike" cap="none" normalizeH="0" baseline="0" err="1">
                <a:ln>
                  <a:noFill/>
                </a:ln>
                <a:solidFill>
                  <a:schemeClr val="tx1"/>
                </a:solidFill>
                <a:effectLst/>
              </a:rPr>
              <a:t>use_z</a:t>
            </a:r>
            <a:r>
              <a:rPr kumimoji="0" lang="en-US" altLang="en-US" sz="1200" b="1" i="0" u="none" strike="noStrike" cap="none" normalizeH="0" baseline="0">
                <a:ln>
                  <a:noFill/>
                </a:ln>
                <a:solidFill>
                  <a:schemeClr val="tx1"/>
                </a:solidFill>
                <a:effectLst/>
              </a:rPr>
              <a:t> − </a:t>
            </a:r>
            <a:r>
              <a:rPr kumimoji="0" lang="en-US" altLang="en-US" sz="1200" b="1" i="0" u="none" strike="noStrike" cap="none" normalizeH="0" baseline="0" err="1">
                <a:ln>
                  <a:noFill/>
                </a:ln>
                <a:solidFill>
                  <a:schemeClr val="tx1"/>
                </a:solidFill>
                <a:effectLst/>
              </a:rPr>
              <a:t>perf_z</a:t>
            </a:r>
            <a:r>
              <a:rPr kumimoji="0" lang="en-US" altLang="en-US" sz="1200" b="0" i="0" u="none" strike="noStrike" cap="none" normalizeH="0" baseline="0">
                <a:ln>
                  <a:noFill/>
                </a:ln>
                <a:solidFill>
                  <a:schemeClr val="tx1"/>
                </a:solidFill>
                <a:effectLst/>
              </a:rPr>
              <a:t>.</a:t>
            </a:r>
          </a:p>
          <a:p>
            <a:pPr marL="0" indent="0">
              <a:spcBef>
                <a:spcPts val="600"/>
              </a:spcBef>
              <a:spcAft>
                <a:spcPts val="600"/>
              </a:spcAft>
              <a:buNone/>
            </a:pPr>
            <a:r>
              <a:rPr lang="en-CA" sz="1200" b="1"/>
              <a:t>Model Specifications</a:t>
            </a:r>
          </a:p>
          <a:p>
            <a:pPr>
              <a:spcBef>
                <a:spcPts val="600"/>
              </a:spcBef>
              <a:spcAft>
                <a:spcPts val="600"/>
              </a:spcAft>
            </a:pPr>
            <a:r>
              <a:rPr lang="en-CA" sz="1200" b="1"/>
              <a:t>Model 1:</a:t>
            </a:r>
            <a:r>
              <a:rPr lang="en-CA" sz="1200"/>
              <a:t> Gender only</a:t>
            </a:r>
            <a:br>
              <a:rPr lang="en-CA" sz="1200"/>
            </a:br>
            <a:r>
              <a:rPr lang="en-CA" sz="1200" err="1"/>
              <a:t>gap_z</a:t>
            </a:r>
            <a:r>
              <a:rPr lang="en-CA" sz="1200"/>
              <a:t> = </a:t>
            </a:r>
            <a:r>
              <a:rPr lang="el-GR" sz="1200"/>
              <a:t>β0 + β1(</a:t>
            </a:r>
            <a:r>
              <a:rPr lang="en-CA" sz="1200"/>
              <a:t>Female)</a:t>
            </a:r>
          </a:p>
          <a:p>
            <a:pPr>
              <a:spcBef>
                <a:spcPts val="600"/>
              </a:spcBef>
              <a:spcAft>
                <a:spcPts val="600"/>
              </a:spcAft>
            </a:pPr>
            <a:r>
              <a:rPr lang="en-CA" sz="1200" b="1"/>
              <a:t>Model 2:</a:t>
            </a:r>
            <a:r>
              <a:rPr lang="en-CA" sz="1200"/>
              <a:t> Gender × Education</a:t>
            </a:r>
            <a:br>
              <a:rPr lang="en-CA" sz="1200"/>
            </a:br>
            <a:r>
              <a:rPr lang="en-CA" sz="1200" err="1"/>
              <a:t>gap_z</a:t>
            </a:r>
            <a:r>
              <a:rPr lang="en-CA" sz="1200"/>
              <a:t> = </a:t>
            </a:r>
            <a:r>
              <a:rPr lang="el-GR" sz="1200"/>
              <a:t>β0 + β1(</a:t>
            </a:r>
            <a:r>
              <a:rPr lang="en-CA" sz="1200"/>
              <a:t>Female) + </a:t>
            </a:r>
            <a:r>
              <a:rPr lang="el-GR" sz="1200"/>
              <a:t>β2(</a:t>
            </a:r>
            <a:r>
              <a:rPr lang="en-CA" sz="1200"/>
              <a:t>Education) + </a:t>
            </a:r>
            <a:r>
              <a:rPr lang="el-GR" sz="1200"/>
              <a:t>β3(</a:t>
            </a:r>
            <a:r>
              <a:rPr lang="en-CA" sz="1200"/>
              <a:t>Female × Education)</a:t>
            </a:r>
          </a:p>
          <a:p>
            <a:pPr>
              <a:spcBef>
                <a:spcPts val="600"/>
              </a:spcBef>
              <a:spcAft>
                <a:spcPts val="600"/>
              </a:spcAft>
            </a:pPr>
            <a:r>
              <a:rPr lang="en-CA" sz="1200" b="1"/>
              <a:t>Model 3:</a:t>
            </a:r>
            <a:r>
              <a:rPr lang="en-CA" sz="1200"/>
              <a:t> Gender × Age</a:t>
            </a:r>
            <a:br>
              <a:rPr lang="en-CA" sz="1200"/>
            </a:br>
            <a:r>
              <a:rPr lang="en-CA" sz="1200" err="1"/>
              <a:t>gap_z</a:t>
            </a:r>
            <a:r>
              <a:rPr lang="en-CA" sz="1200"/>
              <a:t> = </a:t>
            </a:r>
            <a:r>
              <a:rPr lang="el-GR" sz="1200"/>
              <a:t>β0 + β1(</a:t>
            </a:r>
            <a:r>
              <a:rPr lang="en-CA" sz="1200"/>
              <a:t>Female) + </a:t>
            </a:r>
            <a:r>
              <a:rPr lang="el-GR" sz="1200"/>
              <a:t>β2(</a:t>
            </a:r>
            <a:r>
              <a:rPr lang="en-CA" sz="1200"/>
              <a:t>Age) + </a:t>
            </a:r>
            <a:r>
              <a:rPr lang="el-GR" sz="1200"/>
              <a:t>β3(</a:t>
            </a:r>
            <a:r>
              <a:rPr lang="en-CA" sz="1200"/>
              <a:t>Female × Age)</a:t>
            </a:r>
          </a:p>
          <a:p>
            <a:pPr marL="0" indent="0">
              <a:spcBef>
                <a:spcPts val="600"/>
              </a:spcBef>
              <a:spcAft>
                <a:spcPts val="600"/>
              </a:spcAft>
              <a:buNone/>
            </a:pPr>
            <a:r>
              <a:rPr lang="en-US" sz="1200" b="1"/>
              <a:t>Graph – Key Insights</a:t>
            </a:r>
          </a:p>
          <a:p>
            <a:pPr>
              <a:spcBef>
                <a:spcPts val="600"/>
              </a:spcBef>
              <a:spcAft>
                <a:spcPts val="600"/>
              </a:spcAft>
            </a:pPr>
            <a:r>
              <a:rPr lang="en-US" sz="1200"/>
              <a:t>At </a:t>
            </a:r>
            <a:r>
              <a:rPr lang="en-US" sz="1200" b="1"/>
              <a:t>low education</a:t>
            </a:r>
            <a:r>
              <a:rPr lang="en-US" sz="1200"/>
              <a:t>, women self-promote </a:t>
            </a:r>
            <a:r>
              <a:rPr lang="en-US" sz="1200" b="1"/>
              <a:t>slightly more</a:t>
            </a:r>
            <a:r>
              <a:rPr lang="en-US" sz="1200"/>
              <a:t> than men </a:t>
            </a:r>
          </a:p>
          <a:p>
            <a:pPr>
              <a:spcBef>
                <a:spcPts val="600"/>
              </a:spcBef>
              <a:spcAft>
                <a:spcPts val="600"/>
              </a:spcAft>
            </a:pPr>
            <a:r>
              <a:rPr lang="en-US" sz="1200"/>
              <a:t>Gap </a:t>
            </a:r>
            <a:r>
              <a:rPr lang="en-US" sz="1200" b="1"/>
              <a:t>shrinks at medium education</a:t>
            </a:r>
            <a:endParaRPr lang="en-US" sz="1200"/>
          </a:p>
          <a:p>
            <a:pPr>
              <a:spcBef>
                <a:spcPts val="600"/>
              </a:spcBef>
              <a:spcAft>
                <a:spcPts val="600"/>
              </a:spcAft>
            </a:pPr>
            <a:r>
              <a:rPr lang="en-US" sz="1200"/>
              <a:t>At </a:t>
            </a:r>
            <a:r>
              <a:rPr lang="en-US" sz="1200" b="1"/>
              <a:t>high education</a:t>
            </a:r>
            <a:r>
              <a:rPr lang="en-US" sz="1200"/>
              <a:t>, gender gap is </a:t>
            </a:r>
            <a:r>
              <a:rPr lang="en-US" sz="1200" b="1"/>
              <a:t>near zero</a:t>
            </a:r>
            <a:r>
              <a:rPr lang="en-US" sz="1200"/>
              <a:t> (lines overlap).</a:t>
            </a:r>
          </a:p>
        </p:txBody>
      </p:sp>
      <p:pic>
        <p:nvPicPr>
          <p:cNvPr id="8" name="Picture 7">
            <a:extLst>
              <a:ext uri="{FF2B5EF4-FFF2-40B4-BE49-F238E27FC236}">
                <a16:creationId xmlns:a16="http://schemas.microsoft.com/office/drawing/2014/main" id="{2637D858-D394-0D53-8467-848D18E20B54}"/>
              </a:ext>
            </a:extLst>
          </p:cNvPr>
          <p:cNvPicPr>
            <a:picLocks noChangeAspect="1"/>
          </p:cNvPicPr>
          <p:nvPr/>
        </p:nvPicPr>
        <p:blipFill>
          <a:blip r:embed="rId3"/>
          <a:stretch>
            <a:fillRect/>
          </a:stretch>
        </p:blipFill>
        <p:spPr>
          <a:xfrm>
            <a:off x="5486399" y="1249064"/>
            <a:ext cx="3225707" cy="1988501"/>
          </a:xfrm>
          <a:prstGeom prst="rect">
            <a:avLst/>
          </a:prstGeom>
        </p:spPr>
      </p:pic>
      <p:pic>
        <p:nvPicPr>
          <p:cNvPr id="13" name="Picture 12">
            <a:extLst>
              <a:ext uri="{FF2B5EF4-FFF2-40B4-BE49-F238E27FC236}">
                <a16:creationId xmlns:a16="http://schemas.microsoft.com/office/drawing/2014/main" id="{B758127E-EBA5-A76B-74C1-30BBDE776621}"/>
              </a:ext>
            </a:extLst>
          </p:cNvPr>
          <p:cNvPicPr>
            <a:picLocks noChangeAspect="1"/>
          </p:cNvPicPr>
          <p:nvPr/>
        </p:nvPicPr>
        <p:blipFill>
          <a:blip r:embed="rId4"/>
          <a:stretch>
            <a:fillRect/>
          </a:stretch>
        </p:blipFill>
        <p:spPr>
          <a:xfrm>
            <a:off x="8712106" y="1330035"/>
            <a:ext cx="3133939" cy="1895528"/>
          </a:xfrm>
          <a:prstGeom prst="rect">
            <a:avLst/>
          </a:prstGeom>
        </p:spPr>
      </p:pic>
      <p:pic>
        <p:nvPicPr>
          <p:cNvPr id="7" name="Picture 6" descr="University of Waterloo logo">
            <a:extLst>
              <a:ext uri="{FF2B5EF4-FFF2-40B4-BE49-F238E27FC236}">
                <a16:creationId xmlns:a16="http://schemas.microsoft.com/office/drawing/2014/main" id="{8D1A394E-3199-22E1-4499-2E5377C05CB0}"/>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9442767" y="5868697"/>
            <a:ext cx="2749233" cy="1085512"/>
          </a:xfrm>
          <a:prstGeom prst="rect">
            <a:avLst/>
          </a:prstGeom>
        </p:spPr>
      </p:pic>
    </p:spTree>
    <p:extLst>
      <p:ext uri="{BB962C8B-B14F-4D97-AF65-F5344CB8AC3E}">
        <p14:creationId xmlns:p14="http://schemas.microsoft.com/office/powerpoint/2010/main" val="11628624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9116A-990B-7D6D-193F-2C23B6EE29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95CFBC-C40E-EDD0-1E4B-31F576C250F3}"/>
              </a:ext>
            </a:extLst>
          </p:cNvPr>
          <p:cNvSpPr>
            <a:spLocks noGrp="1"/>
          </p:cNvSpPr>
          <p:nvPr>
            <p:ph type="title"/>
          </p:nvPr>
        </p:nvSpPr>
        <p:spPr>
          <a:xfrm>
            <a:off x="259883" y="434108"/>
            <a:ext cx="11569729" cy="895927"/>
          </a:xfrm>
        </p:spPr>
        <p:txBody>
          <a:bodyPr anchor="ctr">
            <a:normAutofit/>
          </a:bodyPr>
          <a:lstStyle/>
          <a:p>
            <a:r>
              <a:rPr lang="en-US"/>
              <a:t>EXTENSION 1 – KEY RESULTS &amp; CONCLUSION</a:t>
            </a:r>
          </a:p>
        </p:txBody>
      </p:sp>
      <p:sp>
        <p:nvSpPr>
          <p:cNvPr id="11" name="Content Placeholder 2">
            <a:extLst>
              <a:ext uri="{FF2B5EF4-FFF2-40B4-BE49-F238E27FC236}">
                <a16:creationId xmlns:a16="http://schemas.microsoft.com/office/drawing/2014/main" id="{C2D46B25-7D2B-7333-F0CA-74E379E3C227}"/>
              </a:ext>
            </a:extLst>
          </p:cNvPr>
          <p:cNvSpPr>
            <a:spLocks noGrp="1"/>
          </p:cNvSpPr>
          <p:nvPr>
            <p:ph sz="half" idx="1"/>
          </p:nvPr>
        </p:nvSpPr>
        <p:spPr>
          <a:xfrm>
            <a:off x="6604000" y="1203819"/>
            <a:ext cx="4980713" cy="4590472"/>
          </a:xfrm>
        </p:spPr>
        <p:txBody>
          <a:bodyPr>
            <a:normAutofit/>
          </a:bodyPr>
          <a:lstStyle/>
          <a:p>
            <a:pPr marL="0" indent="0">
              <a:spcBef>
                <a:spcPts val="200"/>
              </a:spcBef>
              <a:spcAft>
                <a:spcPts val="200"/>
              </a:spcAft>
              <a:buNone/>
            </a:pPr>
            <a:r>
              <a:rPr lang="en-CA" sz="1200" b="1"/>
              <a:t>Regression Table – Key Findings</a:t>
            </a:r>
          </a:p>
          <a:p>
            <a:pPr>
              <a:spcBef>
                <a:spcPts val="200"/>
              </a:spcBef>
              <a:spcAft>
                <a:spcPts val="200"/>
              </a:spcAft>
            </a:pPr>
            <a:r>
              <a:rPr lang="en-CA" sz="1200" b="1"/>
              <a:t>Model 1 (Gender only):</a:t>
            </a:r>
            <a:r>
              <a:rPr lang="en-CA" sz="1200"/>
              <a:t> Women self-promote </a:t>
            </a:r>
            <a:r>
              <a:rPr lang="en-CA" sz="1200" b="1"/>
              <a:t>~0.11 SD more</a:t>
            </a:r>
            <a:r>
              <a:rPr lang="en-CA" sz="1200"/>
              <a:t> (small positive gap).</a:t>
            </a:r>
          </a:p>
          <a:p>
            <a:pPr>
              <a:spcBef>
                <a:spcPts val="200"/>
              </a:spcBef>
              <a:spcAft>
                <a:spcPts val="200"/>
              </a:spcAft>
            </a:pPr>
            <a:r>
              <a:rPr lang="en-CA" sz="1200" b="1"/>
              <a:t>Model 2 (Gender × Education):</a:t>
            </a:r>
            <a:endParaRPr lang="en-CA" sz="1200"/>
          </a:p>
          <a:p>
            <a:pPr lvl="1">
              <a:spcBef>
                <a:spcPts val="200"/>
              </a:spcBef>
              <a:spcAft>
                <a:spcPts val="200"/>
              </a:spcAft>
            </a:pPr>
            <a:r>
              <a:rPr lang="en-CA" sz="1200"/>
              <a:t>Gap largest at low education: </a:t>
            </a:r>
            <a:r>
              <a:rPr lang="en-CA" sz="1200" b="1"/>
              <a:t>0.20 SD</a:t>
            </a:r>
            <a:endParaRPr lang="en-CA" sz="1200"/>
          </a:p>
          <a:p>
            <a:pPr lvl="1">
              <a:spcBef>
                <a:spcPts val="200"/>
              </a:spcBef>
              <a:spcAft>
                <a:spcPts val="200"/>
              </a:spcAft>
            </a:pPr>
            <a:r>
              <a:rPr lang="en-CA" sz="1200"/>
              <a:t>Gap shrinks at medium: </a:t>
            </a:r>
            <a:r>
              <a:rPr lang="en-CA" sz="1200" b="1"/>
              <a:t>0.18 SD</a:t>
            </a:r>
            <a:endParaRPr lang="en-CA" sz="1200"/>
          </a:p>
          <a:p>
            <a:pPr lvl="1">
              <a:spcBef>
                <a:spcPts val="200"/>
              </a:spcBef>
              <a:spcAft>
                <a:spcPts val="200"/>
              </a:spcAft>
            </a:pPr>
            <a:r>
              <a:rPr lang="en-CA" sz="1200"/>
              <a:t>Gap near zero at high: </a:t>
            </a:r>
            <a:r>
              <a:rPr lang="en-CA" sz="1200" b="1"/>
              <a:t>0.05 SD</a:t>
            </a:r>
            <a:endParaRPr lang="en-CA" sz="1200"/>
          </a:p>
          <a:p>
            <a:pPr>
              <a:spcBef>
                <a:spcPts val="200"/>
              </a:spcBef>
              <a:spcAft>
                <a:spcPts val="200"/>
              </a:spcAft>
            </a:pPr>
            <a:r>
              <a:rPr lang="en-CA" sz="1200" b="1"/>
              <a:t>Model 3 (Gender × Age):</a:t>
            </a:r>
            <a:endParaRPr lang="en-CA" sz="1200"/>
          </a:p>
          <a:p>
            <a:pPr lvl="1">
              <a:spcBef>
                <a:spcPts val="200"/>
              </a:spcBef>
              <a:spcAft>
                <a:spcPts val="200"/>
              </a:spcAft>
            </a:pPr>
            <a:r>
              <a:rPr lang="en-CA" sz="1200"/>
              <a:t>Gap highest at ages below 24: </a:t>
            </a:r>
            <a:r>
              <a:rPr lang="en-CA" sz="1200" b="1"/>
              <a:t>0.20 SD</a:t>
            </a:r>
          </a:p>
          <a:p>
            <a:pPr lvl="1">
              <a:spcBef>
                <a:spcPts val="200"/>
              </a:spcBef>
              <a:spcAft>
                <a:spcPts val="200"/>
              </a:spcAft>
            </a:pPr>
            <a:r>
              <a:rPr lang="en-CA" sz="1200"/>
              <a:t>Gap shrinks at older age : around </a:t>
            </a:r>
            <a:r>
              <a:rPr lang="en-CA" sz="1200" b="1"/>
              <a:t>0.03–0.10 SD</a:t>
            </a:r>
            <a:endParaRPr lang="en-US" sz="1200" b="1"/>
          </a:p>
          <a:p>
            <a:pPr marL="0" indent="0">
              <a:lnSpc>
                <a:spcPct val="90000"/>
              </a:lnSpc>
              <a:spcBef>
                <a:spcPts val="200"/>
              </a:spcBef>
              <a:spcAft>
                <a:spcPts val="200"/>
              </a:spcAft>
              <a:buNone/>
            </a:pPr>
            <a:endParaRPr lang="en-US" sz="1200"/>
          </a:p>
        </p:txBody>
      </p:sp>
      <p:pic>
        <p:nvPicPr>
          <p:cNvPr id="15" name="Picture 14" descr="A screenshot of a data&#10;&#10;AI-generated content may be incorrect.">
            <a:extLst>
              <a:ext uri="{FF2B5EF4-FFF2-40B4-BE49-F238E27FC236}">
                <a16:creationId xmlns:a16="http://schemas.microsoft.com/office/drawing/2014/main" id="{C740A60B-B0FB-D3BE-438D-59DA521C5F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59882" y="1203819"/>
            <a:ext cx="6243321" cy="4026942"/>
          </a:xfrm>
          <a:prstGeom prst="rect">
            <a:avLst/>
          </a:prstGeom>
          <a:noFill/>
          <a:ln>
            <a:noFill/>
          </a:ln>
        </p:spPr>
      </p:pic>
      <p:sp>
        <p:nvSpPr>
          <p:cNvPr id="5" name="Footer Placeholder 4">
            <a:extLst>
              <a:ext uri="{FF2B5EF4-FFF2-40B4-BE49-F238E27FC236}">
                <a16:creationId xmlns:a16="http://schemas.microsoft.com/office/drawing/2014/main" id="{E5B7D9B8-9AD0-AC4A-318E-5CBC54DF761F}"/>
              </a:ext>
            </a:extLst>
          </p:cNvPr>
          <p:cNvSpPr>
            <a:spLocks noGrp="1"/>
          </p:cNvSpPr>
          <p:nvPr>
            <p:ph type="ftr" sz="quarter" idx="11"/>
          </p:nvPr>
        </p:nvSpPr>
        <p:spPr>
          <a:xfrm>
            <a:off x="259882" y="6335309"/>
            <a:ext cx="5226517" cy="250337"/>
          </a:xfrm>
        </p:spPr>
        <p:txBody>
          <a:bodyPr anchor="ctr">
            <a:normAutofit/>
          </a:bodyPr>
          <a:lstStyle/>
          <a:p>
            <a:pPr>
              <a:spcAft>
                <a:spcPts val="600"/>
              </a:spcAft>
            </a:pPr>
            <a:r>
              <a:rPr lang="en-US"/>
              <a:t>Gender Gap in Self-Promotion</a:t>
            </a:r>
          </a:p>
        </p:txBody>
      </p:sp>
      <p:sp>
        <p:nvSpPr>
          <p:cNvPr id="6" name="Slide Number Placeholder 5">
            <a:extLst>
              <a:ext uri="{FF2B5EF4-FFF2-40B4-BE49-F238E27FC236}">
                <a16:creationId xmlns:a16="http://schemas.microsoft.com/office/drawing/2014/main" id="{F2EBD3B6-A093-6943-BAC8-7E2B88D535DC}"/>
              </a:ext>
            </a:extLst>
          </p:cNvPr>
          <p:cNvSpPr>
            <a:spLocks noGrp="1"/>
          </p:cNvSpPr>
          <p:nvPr>
            <p:ph type="sldNum" sz="quarter" idx="12"/>
          </p:nvPr>
        </p:nvSpPr>
        <p:spPr>
          <a:xfrm>
            <a:off x="5588000" y="6335309"/>
            <a:ext cx="1016000" cy="250337"/>
          </a:xfrm>
        </p:spPr>
        <p:txBody>
          <a:bodyPr anchor="ctr">
            <a:normAutofit/>
          </a:bodyPr>
          <a:lstStyle/>
          <a:p>
            <a:pPr>
              <a:spcAft>
                <a:spcPts val="600"/>
              </a:spcAft>
            </a:pPr>
            <a:r>
              <a:rPr lang="en-US"/>
              <a:t>PAGE  5</a:t>
            </a:r>
          </a:p>
        </p:txBody>
      </p:sp>
      <p:sp>
        <p:nvSpPr>
          <p:cNvPr id="12" name="Content Placeholder 2">
            <a:extLst>
              <a:ext uri="{FF2B5EF4-FFF2-40B4-BE49-F238E27FC236}">
                <a16:creationId xmlns:a16="http://schemas.microsoft.com/office/drawing/2014/main" id="{4A46DA7A-BEA1-5B52-0747-469AAA907DD9}"/>
              </a:ext>
            </a:extLst>
          </p:cNvPr>
          <p:cNvSpPr txBox="1">
            <a:spLocks/>
          </p:cNvSpPr>
          <p:nvPr/>
        </p:nvSpPr>
        <p:spPr>
          <a:xfrm>
            <a:off x="6096000" y="1413164"/>
            <a:ext cx="5733612" cy="4514394"/>
          </a:xfrm>
          <a:prstGeom prst="rect">
            <a:avLst/>
          </a:prstGeom>
        </p:spPr>
        <p:txBody>
          <a:bodyPr vert="horz" lIns="91440" tIns="45720" rIns="91440" bIns="45720" rtlCol="0">
            <a:noAutofit/>
          </a:bodyPr>
          <a:lstStyle>
            <a:lvl1pPr marL="288925" indent="-288925" algn="l" defTabSz="914400"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400"/>
              </a:spcBef>
              <a:spcAft>
                <a:spcPts val="400"/>
              </a:spcAft>
              <a:buFont typeface="Wingdings" charset="2"/>
              <a:buNone/>
            </a:pPr>
            <a:endParaRPr lang="en-US" sz="1200"/>
          </a:p>
        </p:txBody>
      </p:sp>
      <p:pic>
        <p:nvPicPr>
          <p:cNvPr id="14" name="Picture 13">
            <a:extLst>
              <a:ext uri="{FF2B5EF4-FFF2-40B4-BE49-F238E27FC236}">
                <a16:creationId xmlns:a16="http://schemas.microsoft.com/office/drawing/2014/main" id="{29A71504-5D9F-52E1-D094-7FC7002B96A6}"/>
              </a:ext>
            </a:extLst>
          </p:cNvPr>
          <p:cNvPicPr>
            <a:picLocks noChangeAspect="1"/>
          </p:cNvPicPr>
          <p:nvPr/>
        </p:nvPicPr>
        <p:blipFill>
          <a:blip r:embed="rId3"/>
          <a:stretch>
            <a:fillRect/>
          </a:stretch>
        </p:blipFill>
        <p:spPr>
          <a:xfrm>
            <a:off x="6683813" y="3812824"/>
            <a:ext cx="4638704" cy="2611023"/>
          </a:xfrm>
          <a:prstGeom prst="rect">
            <a:avLst/>
          </a:prstGeom>
        </p:spPr>
      </p:pic>
      <p:pic>
        <p:nvPicPr>
          <p:cNvPr id="16" name="Picture 15" descr="University of Waterloo logo">
            <a:extLst>
              <a:ext uri="{FF2B5EF4-FFF2-40B4-BE49-F238E27FC236}">
                <a16:creationId xmlns:a16="http://schemas.microsoft.com/office/drawing/2014/main" id="{2CF6A94C-8863-5EF4-83C6-D29C208BCD5B}"/>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442767" y="5868697"/>
            <a:ext cx="2749233" cy="1085512"/>
          </a:xfrm>
          <a:prstGeom prst="rect">
            <a:avLst/>
          </a:prstGeom>
        </p:spPr>
      </p:pic>
    </p:spTree>
    <p:extLst>
      <p:ext uri="{BB962C8B-B14F-4D97-AF65-F5344CB8AC3E}">
        <p14:creationId xmlns:p14="http://schemas.microsoft.com/office/powerpoint/2010/main" val="25312270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A20BC-4F1E-D254-2EA2-75D2E294E2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2E94E0-C3E8-066D-4635-AC3663E4B9E2}"/>
              </a:ext>
            </a:extLst>
          </p:cNvPr>
          <p:cNvSpPr>
            <a:spLocks noGrp="1"/>
          </p:cNvSpPr>
          <p:nvPr>
            <p:ph type="title"/>
          </p:nvPr>
        </p:nvSpPr>
        <p:spPr/>
        <p:txBody>
          <a:bodyPr>
            <a:noAutofit/>
          </a:bodyPr>
          <a:lstStyle/>
          <a:p>
            <a:r>
              <a:rPr lang="en-US" sz="3200"/>
              <a:t>EXTENSION 2 - </a:t>
            </a:r>
            <a:r>
              <a:rPr lang="en-US" sz="3200">
                <a:solidFill>
                  <a:srgbClr val="000000"/>
                </a:solidFill>
                <a:latin typeface="Barlow Condensed"/>
                <a:ea typeface="Calibri"/>
                <a:cs typeface="Calibri"/>
              </a:rPr>
              <a:t>How Education and Age Shape the Gender Gap</a:t>
            </a:r>
            <a:endParaRPr lang="en-US" sz="3200">
              <a:solidFill>
                <a:srgbClr val="000000"/>
              </a:solidFill>
              <a:latin typeface="Barlow Condensed"/>
            </a:endParaRPr>
          </a:p>
        </p:txBody>
      </p:sp>
      <p:sp>
        <p:nvSpPr>
          <p:cNvPr id="5" name="Footer Placeholder 4">
            <a:extLst>
              <a:ext uri="{FF2B5EF4-FFF2-40B4-BE49-F238E27FC236}">
                <a16:creationId xmlns:a16="http://schemas.microsoft.com/office/drawing/2014/main" id="{97C9DD4D-7366-0631-0490-42B729460395}"/>
              </a:ext>
            </a:extLst>
          </p:cNvPr>
          <p:cNvSpPr>
            <a:spLocks noGrp="1"/>
          </p:cNvSpPr>
          <p:nvPr>
            <p:ph type="ftr" sz="quarter" idx="11"/>
          </p:nvPr>
        </p:nvSpPr>
        <p:spPr/>
        <p:txBody>
          <a:bodyPr/>
          <a:lstStyle/>
          <a:p>
            <a:r>
              <a:rPr lang="en-US"/>
              <a:t>Gender Gap in Self-Promotion</a:t>
            </a:r>
          </a:p>
        </p:txBody>
      </p:sp>
      <p:sp>
        <p:nvSpPr>
          <p:cNvPr id="6" name="Slide Number Placeholder 5">
            <a:extLst>
              <a:ext uri="{FF2B5EF4-FFF2-40B4-BE49-F238E27FC236}">
                <a16:creationId xmlns:a16="http://schemas.microsoft.com/office/drawing/2014/main" id="{0C545B1E-28DC-8E14-CA5F-9EBEA58D2C53}"/>
              </a:ext>
            </a:extLst>
          </p:cNvPr>
          <p:cNvSpPr>
            <a:spLocks noGrp="1"/>
          </p:cNvSpPr>
          <p:nvPr>
            <p:ph type="sldNum" sz="quarter" idx="12"/>
          </p:nvPr>
        </p:nvSpPr>
        <p:spPr/>
        <p:txBody>
          <a:bodyPr/>
          <a:lstStyle/>
          <a:p>
            <a:r>
              <a:rPr lang="en-US"/>
              <a:t>PAGE 6</a:t>
            </a:r>
          </a:p>
        </p:txBody>
      </p:sp>
      <p:sp>
        <p:nvSpPr>
          <p:cNvPr id="8" name="Content Placeholder 2">
            <a:extLst>
              <a:ext uri="{FF2B5EF4-FFF2-40B4-BE49-F238E27FC236}">
                <a16:creationId xmlns:a16="http://schemas.microsoft.com/office/drawing/2014/main" id="{AAF36DAE-1D62-A227-B6DB-E3DF23928A9D}"/>
              </a:ext>
            </a:extLst>
          </p:cNvPr>
          <p:cNvSpPr>
            <a:spLocks noGrp="1"/>
          </p:cNvSpPr>
          <p:nvPr>
            <p:ph sz="half" idx="1"/>
          </p:nvPr>
        </p:nvSpPr>
        <p:spPr>
          <a:xfrm>
            <a:off x="259882" y="1330787"/>
            <a:ext cx="6445721" cy="5074443"/>
          </a:xfrm>
        </p:spPr>
        <p:txBody>
          <a:bodyPr vert="horz" lIns="91440" tIns="45720" rIns="91440" bIns="45720" rtlCol="0" anchor="t">
            <a:noAutofit/>
          </a:bodyPr>
          <a:lstStyle/>
          <a:p>
            <a:pPr marL="0" indent="0">
              <a:buNone/>
            </a:pPr>
            <a:r>
              <a:rPr lang="en-US" sz="1200" b="1"/>
              <a:t>Step 1 -</a:t>
            </a:r>
            <a:r>
              <a:rPr lang="en-US" sz="1200" b="1">
                <a:solidFill>
                  <a:srgbClr val="000000"/>
                </a:solidFill>
                <a:latin typeface="Georgia"/>
                <a:ea typeface="Calibri"/>
                <a:cs typeface="Calibri"/>
              </a:rPr>
              <a:t> Multiple Linear Regression Models with Different Specifications</a:t>
            </a:r>
            <a:endParaRPr lang="en-US" sz="1200">
              <a:solidFill>
                <a:srgbClr val="000000"/>
              </a:solidFill>
              <a:latin typeface="Georgia"/>
              <a:ea typeface="Calibri"/>
              <a:cs typeface="Calibri"/>
            </a:endParaRPr>
          </a:p>
          <a:p>
            <a:pPr marL="285750" indent="-285750"/>
            <a:r>
              <a:rPr lang="en-US" sz="1100" b="1"/>
              <a:t>Model 1 (Gender only):    Y =β0 +β1 Female +ε </a:t>
            </a:r>
            <a:br>
              <a:rPr lang="en-US" sz="1100"/>
            </a:br>
            <a:r>
              <a:rPr lang="en-US" sz="1100"/>
              <a:t>Women show a </a:t>
            </a:r>
            <a:r>
              <a:rPr lang="en-US" sz="1100" b="1"/>
              <a:t>small positive gap</a:t>
            </a:r>
            <a:r>
              <a:rPr lang="en-US" sz="1100"/>
              <a:t> (β₁ ≈ 0.017).</a:t>
            </a:r>
          </a:p>
          <a:p>
            <a:pPr>
              <a:buClr>
                <a:srgbClr val="000000"/>
              </a:buClr>
            </a:pPr>
            <a:r>
              <a:rPr lang="en-US" sz="1100" b="1"/>
              <a:t>Model 2 (Gender + Education): </a:t>
            </a:r>
            <a:r>
              <a:rPr lang="en-US" sz="1100" b="1">
                <a:latin typeface="Georgia"/>
                <a:ea typeface="Calibri"/>
                <a:cs typeface="Calibri"/>
              </a:rPr>
              <a:t> Y =β0 +β1 Female+ β2 Edu+ ε </a:t>
            </a:r>
            <a:br>
              <a:rPr lang="en-US" sz="1100"/>
            </a:br>
            <a:r>
              <a:rPr lang="en-US" sz="1100"/>
              <a:t>Gap </a:t>
            </a:r>
            <a:r>
              <a:rPr lang="en-US" sz="1100" b="1"/>
              <a:t>shrinks</a:t>
            </a:r>
            <a:r>
              <a:rPr lang="en-US" sz="1100"/>
              <a:t> when education is added (β₁ drops to ≈ 0.014).</a:t>
            </a:r>
            <a:br>
              <a:rPr lang="en-US" sz="1100"/>
            </a:br>
            <a:r>
              <a:rPr lang="en-US" sz="1100"/>
              <a:t>Education reduces the gap (β₂ ≈ –0.016, R² rises from 0.0007 to 0.004).</a:t>
            </a:r>
          </a:p>
          <a:p>
            <a:r>
              <a:rPr lang="en-US" sz="1100" b="1"/>
              <a:t>Model 3 (Gender + Age):  </a:t>
            </a:r>
            <a:r>
              <a:rPr lang="en-US" sz="1100" b="1">
                <a:latin typeface="Georgia"/>
                <a:ea typeface="Calibri"/>
                <a:cs typeface="Calibri"/>
              </a:rPr>
              <a:t>Y =β0 +β1 Female+ β3 Age+ ε</a:t>
            </a:r>
            <a:br>
              <a:rPr lang="en-US" sz="1100"/>
            </a:br>
            <a:r>
              <a:rPr lang="en-US" sz="1100"/>
              <a:t>Age has </a:t>
            </a:r>
            <a:r>
              <a:rPr lang="en-US" sz="1100" b="1"/>
              <a:t>no effect</a:t>
            </a:r>
            <a:r>
              <a:rPr lang="en-US" sz="1100"/>
              <a:t> (β₃ ≈ 0, R² decreases from 0.0007 to 0.0005).</a:t>
            </a:r>
          </a:p>
          <a:p>
            <a:r>
              <a:rPr lang="en-US" sz="1100" b="1"/>
              <a:t>Model 4 (Gender + Education + Age): </a:t>
            </a:r>
            <a:r>
              <a:rPr lang="en-US" sz="1100" b="1">
                <a:latin typeface="Georgia"/>
                <a:ea typeface="Calibri"/>
                <a:cs typeface="Calibri"/>
              </a:rPr>
              <a:t> Y=β0 +β1 Female+ β2 Edu+ β3 Age+ ε</a:t>
            </a:r>
            <a:br>
              <a:rPr lang="en-US" sz="1100"/>
            </a:br>
            <a:r>
              <a:rPr lang="en-US" sz="1100"/>
              <a:t>Gender gap remains </a:t>
            </a:r>
            <a:r>
              <a:rPr lang="en-US" sz="1100" b="1"/>
              <a:t>≈ 0.014</a:t>
            </a:r>
            <a:r>
              <a:rPr lang="en-US" sz="1100"/>
              <a:t>, driven by </a:t>
            </a:r>
            <a:r>
              <a:rPr lang="en-US" sz="1100" b="1"/>
              <a:t>education</a:t>
            </a:r>
            <a:r>
              <a:rPr lang="en-US" sz="1100"/>
              <a:t>, not age.</a:t>
            </a:r>
          </a:p>
          <a:p>
            <a:pPr marL="0" indent="0">
              <a:buNone/>
            </a:pPr>
            <a:r>
              <a:rPr lang="en-US" sz="1200" b="1"/>
              <a:t>Step 2 – </a:t>
            </a:r>
            <a:r>
              <a:rPr lang="en-US" sz="1200" b="1">
                <a:ea typeface="+mn-lt"/>
                <a:cs typeface="+mn-lt"/>
              </a:rPr>
              <a:t>Linear Interaction Model: How Education Modifies the Gender Gap</a:t>
            </a:r>
          </a:p>
          <a:p>
            <a:pPr marL="285750" indent="-285750"/>
            <a:r>
              <a:rPr lang="en-US" sz="1100" b="1">
                <a:solidFill>
                  <a:srgbClr val="000000"/>
                </a:solidFill>
                <a:latin typeface="Georgia"/>
                <a:ea typeface="Calibri"/>
                <a:cs typeface="Calibri"/>
              </a:rPr>
              <a:t>Model (Gender × Education):   Y= β0 + β1 Female+ β2 Edu + β3(Female× Edu)</a:t>
            </a:r>
            <a:br>
              <a:rPr lang="en-US" sz="1100" b="1">
                <a:latin typeface="Georgia"/>
                <a:ea typeface="Calibri"/>
                <a:cs typeface="Calibri"/>
              </a:rPr>
            </a:br>
            <a:r>
              <a:rPr lang="en-US" sz="1100">
                <a:ea typeface="+mn-lt"/>
                <a:cs typeface="+mn-lt"/>
              </a:rPr>
              <a:t>(Education is continuous.)</a:t>
            </a:r>
            <a:endParaRPr lang="en-US" sz="1100" b="1">
              <a:ea typeface="Calibri"/>
              <a:cs typeface="Calibri"/>
            </a:endParaRPr>
          </a:p>
          <a:p>
            <a:pPr marL="0" indent="0">
              <a:buClr>
                <a:srgbClr val="000000"/>
              </a:buClr>
              <a:buNone/>
            </a:pPr>
            <a:r>
              <a:rPr lang="en-US" sz="1200" b="1"/>
              <a:t>Graph Insights</a:t>
            </a:r>
            <a:endParaRPr lang="en-US" sz="1100" b="1">
              <a:ea typeface="Calibri"/>
              <a:cs typeface="Calibri"/>
            </a:endParaRPr>
          </a:p>
          <a:p>
            <a:pPr>
              <a:lnSpc>
                <a:spcPct val="0"/>
              </a:lnSpc>
              <a:buClr>
                <a:srgbClr val="000000"/>
              </a:buClr>
            </a:pPr>
            <a:r>
              <a:rPr lang="en-US" sz="1100"/>
              <a:t>Higher</a:t>
            </a:r>
            <a:r>
              <a:rPr lang="en-US" sz="1100">
                <a:ea typeface="+mn-lt"/>
                <a:cs typeface="+mn-lt"/>
              </a:rPr>
              <a:t> education</a:t>
            </a:r>
            <a:r>
              <a:rPr lang="en-US" sz="1100" b="1">
                <a:ea typeface="+mn-lt"/>
                <a:cs typeface="+mn-lt"/>
              </a:rPr>
              <a:t> reduces the belief–performance gap for both men and women.</a:t>
            </a:r>
            <a:endParaRPr lang="en-US" sz="2000" b="1"/>
          </a:p>
          <a:p>
            <a:pPr>
              <a:lnSpc>
                <a:spcPct val="0"/>
              </a:lnSpc>
              <a:buClr>
                <a:srgbClr val="000000"/>
              </a:buClr>
            </a:pPr>
            <a:r>
              <a:rPr lang="en-US" sz="1100" b="1">
                <a:ea typeface="+mn-lt"/>
                <a:cs typeface="+mn-lt"/>
              </a:rPr>
              <a:t>The gender gap(male–female difference)  narrows</a:t>
            </a:r>
            <a:r>
              <a:rPr lang="en-US" sz="1100">
                <a:ea typeface="+mn-lt"/>
                <a:cs typeface="+mn-lt"/>
              </a:rPr>
              <a:t> as education increases.</a:t>
            </a:r>
            <a:endParaRPr lang="en-US" sz="2000"/>
          </a:p>
        </p:txBody>
      </p:sp>
      <p:pic>
        <p:nvPicPr>
          <p:cNvPr id="10" name="drawing" descr="A table with numbers and symbols&#10;&#10;AI-generated content may be incorrect.">
            <a:extLst>
              <a:ext uri="{FF2B5EF4-FFF2-40B4-BE49-F238E27FC236}">
                <a16:creationId xmlns:a16="http://schemas.microsoft.com/office/drawing/2014/main" id="{13AE5F1D-3046-6DCF-1324-DDFC93E0FFA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108457" y="1397799"/>
            <a:ext cx="3500463" cy="2242836"/>
          </a:xfrm>
          <a:prstGeom prst="rect">
            <a:avLst/>
          </a:prstGeom>
        </p:spPr>
      </p:pic>
      <p:pic>
        <p:nvPicPr>
          <p:cNvPr id="14" name="drawing" descr="A graph of a graph with a red line&#10;&#10;AI-generated content may be incorrect.">
            <a:extLst>
              <a:ext uri="{FF2B5EF4-FFF2-40B4-BE49-F238E27FC236}">
                <a16:creationId xmlns:a16="http://schemas.microsoft.com/office/drawing/2014/main" id="{87AFB303-ABEE-43E3-EA91-A2C9BE136545}"/>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032257" y="3868008"/>
            <a:ext cx="3505200" cy="2105025"/>
          </a:xfrm>
          <a:prstGeom prst="rect">
            <a:avLst/>
          </a:prstGeom>
        </p:spPr>
      </p:pic>
    </p:spTree>
    <p:extLst>
      <p:ext uri="{BB962C8B-B14F-4D97-AF65-F5344CB8AC3E}">
        <p14:creationId xmlns:p14="http://schemas.microsoft.com/office/powerpoint/2010/main" val="7334962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85F0C-BC03-868D-1144-84E873627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ED680A-637E-355A-1ADE-61029F46851E}"/>
              </a:ext>
            </a:extLst>
          </p:cNvPr>
          <p:cNvSpPr>
            <a:spLocks noGrp="1"/>
          </p:cNvSpPr>
          <p:nvPr>
            <p:ph type="title"/>
          </p:nvPr>
        </p:nvSpPr>
        <p:spPr/>
        <p:txBody>
          <a:bodyPr>
            <a:noAutofit/>
          </a:bodyPr>
          <a:lstStyle/>
          <a:p>
            <a:r>
              <a:rPr lang="en-US" sz="3200"/>
              <a:t>EXTENSION 2 &amp; 3 </a:t>
            </a:r>
            <a:r>
              <a:rPr lang="en-US" sz="3200">
                <a:ea typeface="+mj-lt"/>
                <a:cs typeface="+mj-lt"/>
              </a:rPr>
              <a:t>– Deepening the Analysis of Education </a:t>
            </a:r>
            <a:endParaRPr lang="en-US" sz="3200">
              <a:solidFill>
                <a:srgbClr val="000000"/>
              </a:solidFill>
              <a:latin typeface="Barlow Condensed"/>
            </a:endParaRPr>
          </a:p>
        </p:txBody>
      </p:sp>
      <p:sp>
        <p:nvSpPr>
          <p:cNvPr id="5" name="Footer Placeholder 4">
            <a:extLst>
              <a:ext uri="{FF2B5EF4-FFF2-40B4-BE49-F238E27FC236}">
                <a16:creationId xmlns:a16="http://schemas.microsoft.com/office/drawing/2014/main" id="{98754B4F-2DE0-79D2-B041-A219BF8A4743}"/>
              </a:ext>
            </a:extLst>
          </p:cNvPr>
          <p:cNvSpPr>
            <a:spLocks noGrp="1"/>
          </p:cNvSpPr>
          <p:nvPr>
            <p:ph type="ftr" sz="quarter" idx="11"/>
          </p:nvPr>
        </p:nvSpPr>
        <p:spPr/>
        <p:txBody>
          <a:bodyPr/>
          <a:lstStyle/>
          <a:p>
            <a:r>
              <a:rPr lang="en-US"/>
              <a:t>Gender Gap in Self-Promotion</a:t>
            </a:r>
          </a:p>
        </p:txBody>
      </p:sp>
      <p:sp>
        <p:nvSpPr>
          <p:cNvPr id="6" name="Slide Number Placeholder 5">
            <a:extLst>
              <a:ext uri="{FF2B5EF4-FFF2-40B4-BE49-F238E27FC236}">
                <a16:creationId xmlns:a16="http://schemas.microsoft.com/office/drawing/2014/main" id="{04C4339E-F780-F3CA-23E9-30B635AC1D5F}"/>
              </a:ext>
            </a:extLst>
          </p:cNvPr>
          <p:cNvSpPr>
            <a:spLocks noGrp="1"/>
          </p:cNvSpPr>
          <p:nvPr>
            <p:ph type="sldNum" sz="quarter" idx="12"/>
          </p:nvPr>
        </p:nvSpPr>
        <p:spPr/>
        <p:txBody>
          <a:bodyPr/>
          <a:lstStyle/>
          <a:p>
            <a:r>
              <a:rPr lang="en-US"/>
              <a:t>PAGE 7</a:t>
            </a:r>
          </a:p>
        </p:txBody>
      </p:sp>
      <p:sp>
        <p:nvSpPr>
          <p:cNvPr id="8" name="Content Placeholder 2">
            <a:extLst>
              <a:ext uri="{FF2B5EF4-FFF2-40B4-BE49-F238E27FC236}">
                <a16:creationId xmlns:a16="http://schemas.microsoft.com/office/drawing/2014/main" id="{29FFF3FD-41B1-4167-6B23-5DC9AF3D033F}"/>
              </a:ext>
            </a:extLst>
          </p:cNvPr>
          <p:cNvSpPr>
            <a:spLocks noGrp="1"/>
          </p:cNvSpPr>
          <p:nvPr>
            <p:ph sz="half" idx="1"/>
          </p:nvPr>
        </p:nvSpPr>
        <p:spPr>
          <a:xfrm>
            <a:off x="259882" y="1330787"/>
            <a:ext cx="6983685" cy="5125929"/>
          </a:xfrm>
        </p:spPr>
        <p:txBody>
          <a:bodyPr vert="horz" lIns="91440" tIns="45720" rIns="91440" bIns="45720" rtlCol="0" anchor="t">
            <a:noAutofit/>
          </a:bodyPr>
          <a:lstStyle/>
          <a:p>
            <a:pPr marL="0" indent="0">
              <a:spcBef>
                <a:spcPts val="600"/>
              </a:spcBef>
              <a:spcAft>
                <a:spcPts val="600"/>
              </a:spcAft>
              <a:buNone/>
            </a:pPr>
            <a:r>
              <a:rPr lang="en-US" sz="1400" b="1"/>
              <a:t>Extension 3 - </a:t>
            </a:r>
            <a:r>
              <a:rPr lang="en-US" sz="1400" b="1">
                <a:ea typeface="DengXian"/>
              </a:rPr>
              <a:t>HSLS:09(U.S. High School Longitudinal Study of 2009) data</a:t>
            </a:r>
            <a:endParaRPr lang="en-US" sz="1400" b="1">
              <a:ea typeface="Calibri"/>
              <a:cs typeface="Calibri"/>
            </a:endParaRPr>
          </a:p>
          <a:p>
            <a:pPr>
              <a:spcBef>
                <a:spcPts val="600"/>
              </a:spcBef>
              <a:spcAft>
                <a:spcPts val="600"/>
              </a:spcAft>
            </a:pPr>
            <a:r>
              <a:rPr lang="en-US" sz="1200" b="1"/>
              <a:t>Model: </a:t>
            </a:r>
            <a:r>
              <a:rPr lang="en-US" sz="1200" b="1">
                <a:ea typeface="Calibri"/>
                <a:cs typeface="Calibri"/>
              </a:rPr>
              <a:t> Y=β0 + β1 x1(Gender) +β2 x2(Performance) + ε </a:t>
            </a:r>
            <a:br>
              <a:rPr lang="en-US" sz="1200"/>
            </a:br>
            <a:r>
              <a:rPr lang="en-US" sz="1200"/>
              <a:t> (Performance : GPA , Y = Math self-efficacy)</a:t>
            </a:r>
          </a:p>
          <a:p>
            <a:pPr marL="0" indent="0">
              <a:spcBef>
                <a:spcPts val="600"/>
              </a:spcBef>
              <a:spcAft>
                <a:spcPts val="600"/>
              </a:spcAft>
              <a:buNone/>
            </a:pPr>
            <a:r>
              <a:rPr lang="en-US" sz="1400" b="1"/>
              <a:t>Graph Insights</a:t>
            </a:r>
            <a:endParaRPr lang="en-US" sz="1400"/>
          </a:p>
          <a:p>
            <a:pPr>
              <a:spcBef>
                <a:spcPts val="600"/>
              </a:spcBef>
              <a:spcAft>
                <a:spcPts val="600"/>
              </a:spcAft>
              <a:buClr>
                <a:srgbClr val="000000"/>
              </a:buClr>
              <a:buFont typeface="Wingdings"/>
              <a:buChar char="§"/>
            </a:pPr>
            <a:r>
              <a:rPr lang="en-US" sz="1200">
                <a:ea typeface="+mn-lt"/>
                <a:cs typeface="+mn-lt"/>
              </a:rPr>
              <a:t>Female students have </a:t>
            </a:r>
            <a:r>
              <a:rPr lang="en-US" sz="1200" b="1">
                <a:ea typeface="+mn-lt"/>
                <a:cs typeface="+mn-lt"/>
              </a:rPr>
              <a:t>higher math GPAs</a:t>
            </a:r>
            <a:r>
              <a:rPr lang="en-US" sz="1200">
                <a:ea typeface="+mn-lt"/>
                <a:cs typeface="+mn-lt"/>
              </a:rPr>
              <a:t> (+0.196 vs −0.196). But they show </a:t>
            </a:r>
            <a:r>
              <a:rPr lang="en-US" sz="1200" b="1">
                <a:ea typeface="+mn-lt"/>
                <a:cs typeface="+mn-lt"/>
              </a:rPr>
              <a:t>slightly lower self-efficacy (r = −0.10)</a:t>
            </a:r>
            <a:r>
              <a:rPr lang="en-US" sz="1200">
                <a:ea typeface="+mn-lt"/>
                <a:cs typeface="+mn-lt"/>
              </a:rPr>
              <a:t>, far smaller than the ≈12.7-point gap in our experiment.</a:t>
            </a:r>
            <a:endParaRPr lang="en-US"/>
          </a:p>
          <a:p>
            <a:pPr marL="0" indent="0">
              <a:spcBef>
                <a:spcPts val="600"/>
              </a:spcBef>
              <a:spcAft>
                <a:spcPts val="600"/>
              </a:spcAft>
              <a:buNone/>
            </a:pPr>
            <a:r>
              <a:rPr lang="en-US" sz="1400" b="1"/>
              <a:t>Step 3</a:t>
            </a:r>
            <a:r>
              <a:rPr lang="en-US" sz="1400" b="1">
                <a:ea typeface="+mn-lt"/>
                <a:cs typeface="+mn-lt"/>
              </a:rPr>
              <a:t> - Gender Gap Across Education Splits:  High-School Turning Point</a:t>
            </a:r>
            <a:endParaRPr lang="en-US"/>
          </a:p>
          <a:p>
            <a:pPr>
              <a:spcBef>
                <a:spcPts val="600"/>
              </a:spcBef>
              <a:spcAft>
                <a:spcPts val="600"/>
              </a:spcAft>
            </a:pPr>
            <a:r>
              <a:rPr lang="en-US" sz="1200" b="1">
                <a:solidFill>
                  <a:srgbClr val="000000"/>
                </a:solidFill>
                <a:ea typeface="Calibri"/>
                <a:cs typeface="Calibri"/>
              </a:rPr>
              <a:t>Two simple regressions: Low group (Y= β0L + β1L Female + ε) &amp; High group ( Y = β0H + β1H Female + ε)</a:t>
            </a:r>
            <a:br>
              <a:rPr lang="en-US" sz="1200" b="1">
                <a:ea typeface="Calibri"/>
                <a:cs typeface="Calibri"/>
              </a:rPr>
            </a:br>
            <a:r>
              <a:rPr lang="en-US" sz="1200">
                <a:ea typeface="Calibri"/>
                <a:cs typeface="Calibri"/>
              </a:rPr>
              <a:t>Low-Education group: </a:t>
            </a:r>
            <a:r>
              <a:rPr lang="en-US" sz="1200" err="1">
                <a:ea typeface="Calibri"/>
                <a:cs typeface="Calibri"/>
              </a:rPr>
              <a:t>Edu_ci</a:t>
            </a:r>
            <a:r>
              <a:rPr lang="en-US" sz="1200">
                <a:ea typeface="Calibri"/>
                <a:cs typeface="Calibri"/>
              </a:rPr>
              <a:t> ≤c, High-Education group: </a:t>
            </a:r>
            <a:r>
              <a:rPr lang="en-US" sz="1200" err="1">
                <a:ea typeface="Calibri"/>
                <a:cs typeface="Calibri"/>
              </a:rPr>
              <a:t>Edu_ci</a:t>
            </a:r>
            <a:r>
              <a:rPr lang="en-US" sz="1200">
                <a:ea typeface="Calibri"/>
                <a:cs typeface="Calibri"/>
              </a:rPr>
              <a:t> &gt;c, </a:t>
            </a:r>
            <a:r>
              <a:rPr lang="en-US" sz="1200">
                <a:ea typeface="+mn-lt"/>
                <a:cs typeface="+mn-lt"/>
              </a:rPr>
              <a:t>c∈ {1,…,8}</a:t>
            </a:r>
            <a:endParaRPr lang="en-US" sz="1200" b="1">
              <a:ea typeface="Calibri"/>
              <a:cs typeface="Calibri"/>
            </a:endParaRPr>
          </a:p>
          <a:p>
            <a:pPr>
              <a:spcBef>
                <a:spcPts val="600"/>
              </a:spcBef>
              <a:spcAft>
                <a:spcPts val="600"/>
              </a:spcAft>
              <a:buClr>
                <a:srgbClr val="000000"/>
              </a:buClr>
            </a:pPr>
            <a:r>
              <a:rPr lang="en-US" sz="1200" b="1">
                <a:ea typeface="Calibri"/>
                <a:cs typeface="Calibri"/>
              </a:rPr>
              <a:t>Compare gender gaps: </a:t>
            </a:r>
            <a:r>
              <a:rPr lang="en-US" sz="1200" b="1" err="1">
                <a:ea typeface="Calibri"/>
                <a:cs typeface="Calibri"/>
              </a:rPr>
              <a:t>ΔGap</a:t>
            </a:r>
            <a:r>
              <a:rPr lang="en-US" sz="1200" b="1">
                <a:ea typeface="Calibri"/>
                <a:cs typeface="Calibri"/>
              </a:rPr>
              <a:t> = B1H - B1L</a:t>
            </a:r>
            <a:br>
              <a:rPr lang="en-US" sz="1200" b="1"/>
            </a:br>
            <a:r>
              <a:rPr lang="en-US" sz="1200">
                <a:ea typeface="Calibri"/>
                <a:cs typeface="Calibri"/>
              </a:rPr>
              <a:t>Gap (High-education grp) - Gap (Low-education grp)</a:t>
            </a:r>
            <a:endParaRPr lang="en-US" sz="1200"/>
          </a:p>
          <a:p>
            <a:pPr marL="0" indent="0">
              <a:spcBef>
                <a:spcPts val="600"/>
              </a:spcBef>
              <a:spcAft>
                <a:spcPts val="600"/>
              </a:spcAft>
              <a:buClr>
                <a:srgbClr val="000000"/>
              </a:buClr>
              <a:buNone/>
            </a:pPr>
            <a:r>
              <a:rPr lang="en-US" sz="1400" b="1"/>
              <a:t>Graph Insights</a:t>
            </a:r>
          </a:p>
          <a:p>
            <a:pPr>
              <a:spcBef>
                <a:spcPts val="600"/>
              </a:spcBef>
              <a:spcAft>
                <a:spcPts val="600"/>
              </a:spcAft>
              <a:buClr>
                <a:srgbClr val="000000"/>
              </a:buClr>
            </a:pPr>
            <a:r>
              <a:rPr lang="en-US" sz="1200">
                <a:ea typeface="+mn-lt"/>
                <a:cs typeface="+mn-lt"/>
              </a:rPr>
              <a:t> The gender gap is </a:t>
            </a:r>
            <a:r>
              <a:rPr lang="en-US" sz="1200" b="1">
                <a:ea typeface="+mn-lt"/>
                <a:cs typeface="+mn-lt"/>
              </a:rPr>
              <a:t>smallest in High School,</a:t>
            </a:r>
            <a:r>
              <a:rPr lang="en-US" sz="1200">
                <a:ea typeface="+mn-lt"/>
                <a:cs typeface="+mn-lt"/>
              </a:rPr>
              <a:t> similar with our HSLS:09 result (≈0.1).</a:t>
            </a:r>
            <a:r>
              <a:rPr lang="en-US" sz="1200"/>
              <a:t> </a:t>
            </a:r>
            <a:endParaRPr lang="en-US"/>
          </a:p>
          <a:p>
            <a:pPr>
              <a:spcBef>
                <a:spcPts val="600"/>
              </a:spcBef>
              <a:spcAft>
                <a:spcPts val="600"/>
              </a:spcAft>
              <a:buClr>
                <a:srgbClr val="000000"/>
              </a:buClr>
            </a:pPr>
            <a:r>
              <a:rPr lang="en-US" sz="1200"/>
              <a:t>The gap </a:t>
            </a:r>
            <a:r>
              <a:rPr lang="en-US" sz="1200" b="1"/>
              <a:t>increases at college entry, </a:t>
            </a:r>
            <a:r>
              <a:rPr lang="en-US" sz="1200"/>
              <a:t>then gradually</a:t>
            </a:r>
            <a:r>
              <a:rPr lang="en-US" sz="1200" b="1"/>
              <a:t> narrows as education rises.</a:t>
            </a:r>
            <a:br>
              <a:rPr lang="en-US" sz="1200" b="1"/>
            </a:br>
            <a:r>
              <a:rPr lang="en-US" sz="1200"/>
              <a:t>(</a:t>
            </a:r>
            <a:r>
              <a:rPr lang="en-US" sz="1200">
                <a:ea typeface="+mn-lt"/>
                <a:cs typeface="+mn-lt"/>
              </a:rPr>
              <a:t>Possible explanation:</a:t>
            </a:r>
            <a:r>
              <a:rPr lang="en-US" sz="1200"/>
              <a:t> </a:t>
            </a:r>
            <a:r>
              <a:rPr lang="en-US" sz="1200">
                <a:ea typeface="+mn-lt"/>
                <a:cs typeface="+mn-lt"/>
              </a:rPr>
              <a:t>College entry may reduce women’s confidence due to social evaluation, while higher education later rebuilds clarity and confidence.</a:t>
            </a:r>
            <a:r>
              <a:rPr lang="en-US" sz="1200"/>
              <a:t>)</a:t>
            </a:r>
            <a:endParaRPr lang="en-US"/>
          </a:p>
          <a:p>
            <a:pPr>
              <a:spcBef>
                <a:spcPts val="600"/>
              </a:spcBef>
              <a:spcAft>
                <a:spcPts val="600"/>
              </a:spcAft>
              <a:buClr>
                <a:srgbClr val="000000"/>
              </a:buClr>
            </a:pPr>
            <a:endParaRPr lang="en-US" sz="1200"/>
          </a:p>
          <a:p>
            <a:pPr>
              <a:lnSpc>
                <a:spcPct val="0"/>
              </a:lnSpc>
              <a:spcBef>
                <a:spcPts val="600"/>
              </a:spcBef>
              <a:spcAft>
                <a:spcPts val="600"/>
              </a:spcAft>
              <a:buClr>
                <a:srgbClr val="000000"/>
              </a:buClr>
            </a:pPr>
            <a:endParaRPr lang="en-US" sz="1200"/>
          </a:p>
        </p:txBody>
      </p:sp>
      <p:pic>
        <p:nvPicPr>
          <p:cNvPr id="4" name="图片 3" descr="A graph with blue lines and white text&#10;&#10;AI-generated content may be incorrect.">
            <a:extLst>
              <a:ext uri="{FF2B5EF4-FFF2-40B4-BE49-F238E27FC236}">
                <a16:creationId xmlns:a16="http://schemas.microsoft.com/office/drawing/2014/main" id="{2F58E7C2-B561-C8F2-FF36-8BA8AE238C9B}"/>
              </a:ext>
            </a:extLst>
          </p:cNvPr>
          <p:cNvPicPr>
            <a:picLocks noChangeAspect="1"/>
          </p:cNvPicPr>
          <p:nvPr/>
        </p:nvPicPr>
        <p:blipFill>
          <a:blip r:embed="rId2"/>
          <a:stretch>
            <a:fillRect/>
          </a:stretch>
        </p:blipFill>
        <p:spPr>
          <a:xfrm>
            <a:off x="7287912" y="3108755"/>
            <a:ext cx="4278807" cy="2609721"/>
          </a:xfrm>
          <a:prstGeom prst="rect">
            <a:avLst/>
          </a:prstGeom>
        </p:spPr>
      </p:pic>
      <p:pic>
        <p:nvPicPr>
          <p:cNvPr id="7" name="图片 6" descr="表格&#10;&#10;AI 生成的内容可能不正确。">
            <a:extLst>
              <a:ext uri="{FF2B5EF4-FFF2-40B4-BE49-F238E27FC236}">
                <a16:creationId xmlns:a16="http://schemas.microsoft.com/office/drawing/2014/main" id="{D0C02C31-1967-8E81-EAFB-077B597370AA}"/>
              </a:ext>
            </a:extLst>
          </p:cNvPr>
          <p:cNvPicPr>
            <a:picLocks noChangeAspect="1"/>
          </p:cNvPicPr>
          <p:nvPr/>
        </p:nvPicPr>
        <p:blipFill>
          <a:blip r:embed="rId3"/>
          <a:srcRect l="811" t="26895" r="28678" b="-312"/>
          <a:stretch>
            <a:fillRect/>
          </a:stretch>
        </p:blipFill>
        <p:spPr>
          <a:xfrm>
            <a:off x="7243567" y="1330035"/>
            <a:ext cx="4278806" cy="1289378"/>
          </a:xfrm>
          <a:prstGeom prst="rect">
            <a:avLst/>
          </a:prstGeom>
        </p:spPr>
      </p:pic>
    </p:spTree>
    <p:extLst>
      <p:ext uri="{BB962C8B-B14F-4D97-AF65-F5344CB8AC3E}">
        <p14:creationId xmlns:p14="http://schemas.microsoft.com/office/powerpoint/2010/main" val="33683967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CAF5E-E4B4-2116-95D6-FC037DCEB4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0ECEB4-CE10-705F-2D12-84696A6E6158}"/>
              </a:ext>
            </a:extLst>
          </p:cNvPr>
          <p:cNvSpPr>
            <a:spLocks noGrp="1"/>
          </p:cNvSpPr>
          <p:nvPr>
            <p:ph type="title"/>
          </p:nvPr>
        </p:nvSpPr>
        <p:spPr/>
        <p:txBody>
          <a:bodyPr/>
          <a:lstStyle/>
          <a:p>
            <a:r>
              <a:rPr lang="en-US"/>
              <a:t>REFLECTION &amp; CONCLUSION</a:t>
            </a:r>
          </a:p>
        </p:txBody>
      </p:sp>
      <p:sp>
        <p:nvSpPr>
          <p:cNvPr id="3" name="Content Placeholder 2">
            <a:extLst>
              <a:ext uri="{FF2B5EF4-FFF2-40B4-BE49-F238E27FC236}">
                <a16:creationId xmlns:a16="http://schemas.microsoft.com/office/drawing/2014/main" id="{3497B275-9E60-A370-5E8B-9B110251361C}"/>
              </a:ext>
            </a:extLst>
          </p:cNvPr>
          <p:cNvSpPr>
            <a:spLocks noGrp="1"/>
          </p:cNvSpPr>
          <p:nvPr>
            <p:ph idx="1"/>
          </p:nvPr>
        </p:nvSpPr>
        <p:spPr/>
        <p:txBody>
          <a:bodyPr>
            <a:noAutofit/>
          </a:bodyPr>
          <a:lstStyle/>
          <a:p>
            <a:pPr marL="0" indent="0">
              <a:buNone/>
            </a:pPr>
            <a:r>
              <a:rPr lang="en-US" sz="1400" b="1"/>
              <a:t>Reflection</a:t>
            </a:r>
          </a:p>
          <a:p>
            <a:r>
              <a:rPr lang="en-US" sz="1400"/>
              <a:t>Replication confirmed the original finding: women </a:t>
            </a:r>
            <a:r>
              <a:rPr lang="en-US" sz="1400" b="1"/>
              <a:t>underrate their performance</a:t>
            </a:r>
            <a:r>
              <a:rPr lang="en-US" sz="1400"/>
              <a:t> even with equal ability.</a:t>
            </a:r>
          </a:p>
          <a:p>
            <a:r>
              <a:rPr lang="en-US" sz="1400"/>
              <a:t>PIAAC analysis showed the gap is </a:t>
            </a:r>
            <a:r>
              <a:rPr lang="en-US" sz="1400" b="1"/>
              <a:t>small overall</a:t>
            </a:r>
            <a:r>
              <a:rPr lang="en-US" sz="1400"/>
              <a:t> but varies by </a:t>
            </a:r>
            <a:r>
              <a:rPr lang="en-US" sz="1400" b="1"/>
              <a:t>education and age</a:t>
            </a:r>
            <a:r>
              <a:rPr lang="en-US" sz="1400"/>
              <a:t>.</a:t>
            </a:r>
          </a:p>
          <a:p>
            <a:r>
              <a:rPr lang="en-US" sz="1400"/>
              <a:t>Extension using the original dataset found </a:t>
            </a:r>
            <a:r>
              <a:rPr lang="en-US" sz="1400" b="1"/>
              <a:t>education reduces the gap</a:t>
            </a:r>
            <a:r>
              <a:rPr lang="en-US" sz="1400"/>
              <a:t>, while </a:t>
            </a:r>
            <a:r>
              <a:rPr lang="en-US" sz="1400" b="1"/>
              <a:t>age adds no explanatory power</a:t>
            </a:r>
            <a:r>
              <a:rPr lang="en-US" sz="1400"/>
              <a:t>.</a:t>
            </a:r>
          </a:p>
          <a:p>
            <a:pPr marL="0" indent="0">
              <a:buNone/>
            </a:pPr>
            <a:r>
              <a:rPr lang="en-US" sz="1400" b="1"/>
              <a:t>Conclusion</a:t>
            </a:r>
          </a:p>
          <a:p>
            <a:r>
              <a:rPr lang="en-US" sz="1400"/>
              <a:t>Gender confidence gaps </a:t>
            </a:r>
            <a:r>
              <a:rPr lang="en-US" sz="1400" b="1"/>
              <a:t>exist but are not uniform</a:t>
            </a:r>
            <a:r>
              <a:rPr lang="en-US" sz="1400"/>
              <a:t> — they depend on </a:t>
            </a:r>
            <a:r>
              <a:rPr lang="en-US" sz="1400" b="1"/>
              <a:t>context, education level, and age</a:t>
            </a:r>
            <a:r>
              <a:rPr lang="en-US" sz="1400"/>
              <a:t>.</a:t>
            </a:r>
          </a:p>
          <a:p>
            <a:r>
              <a:rPr lang="en-US" sz="1400"/>
              <a:t>Across datasets, gaps </a:t>
            </a:r>
            <a:r>
              <a:rPr lang="en-US" sz="1400" b="1"/>
              <a:t>shrink at higher education levels</a:t>
            </a:r>
            <a:r>
              <a:rPr lang="en-US" sz="1400"/>
              <a:t> and are </a:t>
            </a:r>
            <a:r>
              <a:rPr lang="en-US" sz="1400" b="1"/>
              <a:t>largest among younger/less-educated adults</a:t>
            </a:r>
            <a:r>
              <a:rPr lang="en-US" sz="1400"/>
              <a:t>.</a:t>
            </a:r>
          </a:p>
          <a:p>
            <a:r>
              <a:rPr lang="en-US" sz="1400"/>
              <a:t>Combining replication with real-world data shows how </a:t>
            </a:r>
            <a:r>
              <a:rPr lang="en-US" sz="1400" b="1"/>
              <a:t>behavior + quantitative analysis</a:t>
            </a:r>
            <a:r>
              <a:rPr lang="en-US" sz="1400"/>
              <a:t> helps explain patterns relevant to </a:t>
            </a:r>
            <a:r>
              <a:rPr lang="en-US" sz="1400" b="1"/>
              <a:t>promotion, leadership, and workplace equity</a:t>
            </a:r>
            <a:r>
              <a:rPr lang="en-US" sz="1400"/>
              <a:t>.</a:t>
            </a:r>
          </a:p>
        </p:txBody>
      </p:sp>
      <p:sp>
        <p:nvSpPr>
          <p:cNvPr id="6" name="Footer Placeholder 5">
            <a:extLst>
              <a:ext uri="{FF2B5EF4-FFF2-40B4-BE49-F238E27FC236}">
                <a16:creationId xmlns:a16="http://schemas.microsoft.com/office/drawing/2014/main" id="{C868428E-95EA-DD5E-CEDF-501E6FEE9B1D}"/>
              </a:ext>
            </a:extLst>
          </p:cNvPr>
          <p:cNvSpPr>
            <a:spLocks noGrp="1"/>
          </p:cNvSpPr>
          <p:nvPr>
            <p:ph type="ftr" sz="quarter" idx="11"/>
          </p:nvPr>
        </p:nvSpPr>
        <p:spPr/>
        <p:txBody>
          <a:bodyPr/>
          <a:lstStyle/>
          <a:p>
            <a:r>
              <a:rPr lang="en-US"/>
              <a:t>Gender Gap in Self-Promotion</a:t>
            </a:r>
          </a:p>
        </p:txBody>
      </p:sp>
      <p:sp>
        <p:nvSpPr>
          <p:cNvPr id="7" name="Slide Number Placeholder 6">
            <a:extLst>
              <a:ext uri="{FF2B5EF4-FFF2-40B4-BE49-F238E27FC236}">
                <a16:creationId xmlns:a16="http://schemas.microsoft.com/office/drawing/2014/main" id="{D51ACDDB-AB16-20C9-313E-6B98142B9221}"/>
              </a:ext>
            </a:extLst>
          </p:cNvPr>
          <p:cNvSpPr>
            <a:spLocks noGrp="1"/>
          </p:cNvSpPr>
          <p:nvPr>
            <p:ph type="sldNum" sz="quarter" idx="12"/>
          </p:nvPr>
        </p:nvSpPr>
        <p:spPr/>
        <p:txBody>
          <a:bodyPr/>
          <a:lstStyle/>
          <a:p>
            <a:r>
              <a:rPr lang="en-US"/>
              <a:t>PAGE 8</a:t>
            </a:r>
          </a:p>
        </p:txBody>
      </p:sp>
    </p:spTree>
    <p:extLst>
      <p:ext uri="{BB962C8B-B14F-4D97-AF65-F5344CB8AC3E}">
        <p14:creationId xmlns:p14="http://schemas.microsoft.com/office/powerpoint/2010/main" val="42256509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UofWaterloo_WhiteBkgrd">
  <a:themeElements>
    <a:clrScheme name="UWaterloo">
      <a:dk1>
        <a:sysClr val="windowText" lastClr="000000"/>
      </a:dk1>
      <a:lt1>
        <a:sysClr val="window" lastClr="FFFFFF"/>
      </a:lt1>
      <a:dk2>
        <a:srgbClr val="787878"/>
      </a:dk2>
      <a:lt2>
        <a:srgbClr val="DFDFDF"/>
      </a:lt2>
      <a:accent1>
        <a:srgbClr val="F2EDA8"/>
      </a:accent1>
      <a:accent2>
        <a:srgbClr val="FAE100"/>
      </a:accent2>
      <a:accent3>
        <a:srgbClr val="FED34C"/>
      </a:accent3>
      <a:accent4>
        <a:srgbClr val="EBAB00"/>
      </a:accent4>
      <a:accent5>
        <a:srgbClr val="BB0F33"/>
      </a:accent5>
      <a:accent6>
        <a:srgbClr val="A2A2A2"/>
      </a:accent6>
      <a:hlink>
        <a:srgbClr val="000000"/>
      </a:hlink>
      <a:folHlink>
        <a:srgbClr val="000000"/>
      </a:folHlink>
    </a:clrScheme>
    <a:fontScheme name="Custom 1">
      <a:majorFont>
        <a:latin typeface="Barlow Condensed"/>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aterloo_powerpoint_template_16-9_widescreen" id="{E4282101-675F-A445-8F53-64115176576B}" vid="{FE1396AD-CDE7-C040-8CC2-F51B417BF6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a4e2597-d067-4c78-aed5-1b5956ef2de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960C145052E104F88C06D65FE8B0052" ma:contentTypeVersion="9" ma:contentTypeDescription="Create a new document." ma:contentTypeScope="" ma:versionID="b7b2b0688f2ba8da2c1288e51aeacc3f">
  <xsd:schema xmlns:xsd="http://www.w3.org/2001/XMLSchema" xmlns:xs="http://www.w3.org/2001/XMLSchema" xmlns:p="http://schemas.microsoft.com/office/2006/metadata/properties" xmlns:ns3="9a4e2597-d067-4c78-aed5-1b5956ef2de7" targetNamespace="http://schemas.microsoft.com/office/2006/metadata/properties" ma:root="true" ma:fieldsID="91e8389f1f955fb552c06e0d8c497dcc" ns3:_="">
    <xsd:import namespace="9a4e2597-d067-4c78-aed5-1b5956ef2de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4e2597-d067-4c78-aed5-1b5956ef2de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FF0F72-93A1-4E69-8D64-632B80333547}">
  <ds:schemaRefs>
    <ds:schemaRef ds:uri="9a4e2597-d067-4c78-aed5-1b5956ef2de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8250F3E-D848-4658-9B4C-2EE3061DDAF8}">
  <ds:schemaRefs>
    <ds:schemaRef ds:uri="http://schemas.microsoft.com/sharepoint/v3/contenttype/forms"/>
  </ds:schemaRefs>
</ds:datastoreItem>
</file>

<file path=customXml/itemProps3.xml><?xml version="1.0" encoding="utf-8"?>
<ds:datastoreItem xmlns:ds="http://schemas.openxmlformats.org/officeDocument/2006/customXml" ds:itemID="{341889D0-7E9A-4454-94A0-5BEFEBD2F113}">
  <ds:schemaRefs>
    <ds:schemaRef ds:uri="9a4e2597-d067-4c78-aed5-1b5956ef2de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waterloo_powerpoint_template_16-9_widescreen</Template>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UofWaterloo_WhiteBkgrd</vt:lpstr>
      <vt:lpstr>Gender Gap in Self-Promotion</vt:lpstr>
      <vt:lpstr>INTRODUCTION</vt:lpstr>
      <vt:lpstr>REPLICATION – APPROACH &amp; RESULTS</vt:lpstr>
      <vt:lpstr>DIAGNOSTICS &amp; CHECKS</vt:lpstr>
      <vt:lpstr>EXTENSION 1 – DATA, MEASURES &amp; MODEL SPECIFICATION</vt:lpstr>
      <vt:lpstr>EXTENSION 1 – KEY RESULTS &amp; CONCLUSION</vt:lpstr>
      <vt:lpstr>EXTENSION 2 - How Education and Age Shape the Gender Gap</vt:lpstr>
      <vt:lpstr>EXTENSION 2 &amp; 3 – Deepening the Analysis of Education </vt:lpstr>
      <vt:lpstr>REFLECTION &amp;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 Sangeetha Sivashanmugan</dc:creator>
  <cp:revision>3</cp:revision>
  <dcterms:created xsi:type="dcterms:W3CDTF">2025-11-21T00:43:51Z</dcterms:created>
  <dcterms:modified xsi:type="dcterms:W3CDTF">2025-11-26T16:06:45Z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0x010100D960C145052E104F88C06D65FE8B0052</vt:lpwstr>
  </property>
</Properties>
</file>